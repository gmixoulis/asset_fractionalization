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80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466" y="481188"/>
            <a:ext cx="16224266" cy="766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571500"/>
            <a:ext cx="16268700" cy="9182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26790" y="570794"/>
            <a:ext cx="6625590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800" spc="-70" dirty="0"/>
              <a:t>Liquid</a:t>
            </a:r>
            <a:r>
              <a:rPr sz="6800" spc="-490" dirty="0"/>
              <a:t> </a:t>
            </a:r>
            <a:r>
              <a:rPr sz="6800" spc="-390" dirty="0"/>
              <a:t>Real</a:t>
            </a:r>
            <a:r>
              <a:rPr sz="6800" spc="-570" dirty="0"/>
              <a:t> </a:t>
            </a:r>
            <a:r>
              <a:rPr sz="6800" spc="-35" dirty="0"/>
              <a:t>Estate</a:t>
            </a:r>
            <a:endParaRPr sz="6800"/>
          </a:p>
        </p:txBody>
      </p:sp>
      <p:sp>
        <p:nvSpPr>
          <p:cNvPr id="4" name="object 4"/>
          <p:cNvSpPr txBox="1"/>
          <p:nvPr/>
        </p:nvSpPr>
        <p:spPr>
          <a:xfrm>
            <a:off x="9641871" y="1650647"/>
            <a:ext cx="695007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5" dirty="0">
                <a:latin typeface="Arial MT"/>
                <a:cs typeface="Arial MT"/>
              </a:rPr>
              <a:t>The</a:t>
            </a:r>
            <a:r>
              <a:rPr sz="3400" spc="-180" dirty="0">
                <a:latin typeface="Arial MT"/>
                <a:cs typeface="Arial MT"/>
              </a:rPr>
              <a:t> </a:t>
            </a:r>
            <a:r>
              <a:rPr sz="3400" spc="-135" dirty="0">
                <a:latin typeface="Arial MT"/>
                <a:cs typeface="Arial MT"/>
              </a:rPr>
              <a:t>Solana</a:t>
            </a:r>
            <a:r>
              <a:rPr sz="3400" spc="5" dirty="0">
                <a:latin typeface="Arial MT"/>
                <a:cs typeface="Arial MT"/>
              </a:rPr>
              <a:t> </a:t>
            </a:r>
            <a:r>
              <a:rPr sz="3400" spc="-25" dirty="0">
                <a:latin typeface="Arial MT"/>
                <a:cs typeface="Arial MT"/>
              </a:rPr>
              <a:t>Fractionalization</a:t>
            </a:r>
            <a:r>
              <a:rPr sz="3400" spc="-250" dirty="0">
                <a:latin typeface="Arial MT"/>
                <a:cs typeface="Arial MT"/>
              </a:rPr>
              <a:t> </a:t>
            </a:r>
            <a:r>
              <a:rPr sz="3400" spc="-20" dirty="0">
                <a:latin typeface="Arial MT"/>
                <a:cs typeface="Arial MT"/>
              </a:rPr>
              <a:t>Protocol</a:t>
            </a:r>
            <a:endParaRPr sz="3400" dirty="0">
              <a:latin typeface="Arial MT"/>
              <a:cs typeface="Arial MT"/>
            </a:endParaRPr>
          </a:p>
          <a:p>
            <a:pPr marL="26670" marR="186055" indent="635">
              <a:lnSpc>
                <a:spcPct val="102899"/>
              </a:lnSpc>
              <a:spcBef>
                <a:spcPts val="2035"/>
              </a:spcBef>
            </a:pPr>
            <a:r>
              <a:rPr sz="2550" spc="-50" dirty="0">
                <a:latin typeface="Arial MT"/>
                <a:cs typeface="Arial MT"/>
              </a:rPr>
              <a:t>Transforming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the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world‘s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largest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asset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class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into </a:t>
            </a:r>
            <a:r>
              <a:rPr sz="2550" spc="-30" dirty="0">
                <a:latin typeface="Arial MT"/>
                <a:cs typeface="Arial MT"/>
              </a:rPr>
              <a:t>high-</a:t>
            </a:r>
            <a:r>
              <a:rPr sz="2550" dirty="0">
                <a:latin typeface="Arial MT"/>
                <a:cs typeface="Arial MT"/>
              </a:rPr>
              <a:t>velocity</a:t>
            </a:r>
            <a:r>
              <a:rPr sz="2550" spc="1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digital</a:t>
            </a:r>
            <a:r>
              <a:rPr sz="2550" spc="-10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liquidity.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2F5B7665-970B-4AD1-037F-80F800F14B46}"/>
              </a:ext>
            </a:extLst>
          </p:cNvPr>
          <p:cNvSpPr/>
          <p:nvPr/>
        </p:nvSpPr>
        <p:spPr>
          <a:xfrm>
            <a:off x="16129000" y="9372600"/>
            <a:ext cx="1219200" cy="304800"/>
          </a:xfrm>
          <a:prstGeom prst="rect">
            <a:avLst/>
          </a:prstGeom>
          <a:solidFill>
            <a:srgbClr val="F3F8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3365500"/>
            <a:ext cx="15786100" cy="3975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4830" y="608188"/>
            <a:ext cx="955040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35" dirty="0">
                <a:solidFill>
                  <a:srgbClr val="2A2A2A"/>
                </a:solidFill>
              </a:rPr>
              <a:t>The</a:t>
            </a:r>
            <a:r>
              <a:rPr sz="4850" spc="-229" dirty="0">
                <a:solidFill>
                  <a:srgbClr val="2A2A2A"/>
                </a:solidFill>
              </a:rPr>
              <a:t> </a:t>
            </a:r>
            <a:r>
              <a:rPr sz="4850" spc="155" dirty="0">
                <a:solidFill>
                  <a:srgbClr val="232323"/>
                </a:solidFill>
              </a:rPr>
              <a:t>$330</a:t>
            </a:r>
            <a:r>
              <a:rPr sz="4850" spc="-175" dirty="0">
                <a:solidFill>
                  <a:srgbClr val="232323"/>
                </a:solidFill>
              </a:rPr>
              <a:t> </a:t>
            </a:r>
            <a:r>
              <a:rPr sz="4850" spc="-30" dirty="0">
                <a:solidFill>
                  <a:srgbClr val="262626"/>
                </a:solidFill>
              </a:rPr>
              <a:t>Trillion</a:t>
            </a:r>
            <a:r>
              <a:rPr sz="4850" spc="-140" dirty="0">
                <a:solidFill>
                  <a:srgbClr val="262626"/>
                </a:solidFill>
              </a:rPr>
              <a:t> </a:t>
            </a:r>
            <a:r>
              <a:rPr sz="4850" dirty="0">
                <a:solidFill>
                  <a:srgbClr val="242424"/>
                </a:solidFill>
              </a:rPr>
              <a:t>Illiquidity</a:t>
            </a:r>
            <a:r>
              <a:rPr sz="4850" spc="110" dirty="0">
                <a:solidFill>
                  <a:srgbClr val="242424"/>
                </a:solidFill>
              </a:rPr>
              <a:t> </a:t>
            </a:r>
            <a:r>
              <a:rPr sz="4850" spc="-50" dirty="0">
                <a:solidFill>
                  <a:srgbClr val="262626"/>
                </a:solidFill>
              </a:rPr>
              <a:t>Problem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1170219" y="2100438"/>
            <a:ext cx="899985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134100" algn="l"/>
              </a:tabLst>
            </a:pPr>
            <a:r>
              <a:rPr sz="3600" spc="-55" dirty="0">
                <a:solidFill>
                  <a:srgbClr val="1A1A1A"/>
                </a:solidFill>
                <a:latin typeface="Arial MT"/>
                <a:cs typeface="Arial MT"/>
              </a:rPr>
              <a:t>Exclusionary</a:t>
            </a:r>
            <a:r>
              <a:rPr sz="36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1A1A1A"/>
                </a:solidFill>
                <a:latin typeface="Arial MT"/>
                <a:cs typeface="Arial MT"/>
              </a:rPr>
              <a:t>Capital</a:t>
            </a:r>
            <a:r>
              <a:rPr sz="3600" dirty="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sz="3600" spc="-50" dirty="0">
                <a:solidFill>
                  <a:srgbClr val="151515"/>
                </a:solidFill>
                <a:latin typeface="Arial MT"/>
                <a:cs typeface="Arial MT"/>
              </a:rPr>
              <a:t>Trapped</a:t>
            </a:r>
            <a:r>
              <a:rPr sz="3600" spc="-17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3600" spc="-114" dirty="0">
                <a:solidFill>
                  <a:srgbClr val="161616"/>
                </a:solidFill>
                <a:latin typeface="Arial MT"/>
                <a:cs typeface="Arial MT"/>
              </a:rPr>
              <a:t>Value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983" y="7609769"/>
            <a:ext cx="4622165" cy="14503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065" marR="5080" algn="ctr">
              <a:lnSpc>
                <a:spcPct val="92800"/>
              </a:lnSpc>
              <a:spcBef>
                <a:spcPts val="335"/>
              </a:spcBef>
            </a:pPr>
            <a:r>
              <a:rPr sz="2400" spc="-20" dirty="0">
                <a:latin typeface="Arial MT"/>
                <a:cs typeface="Arial MT"/>
              </a:rPr>
              <a:t>Premium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commercial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investments </a:t>
            </a:r>
            <a:r>
              <a:rPr sz="2550" spc="-40" dirty="0">
                <a:latin typeface="Arial MT"/>
                <a:cs typeface="Arial MT"/>
              </a:rPr>
              <a:t>require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$500,000+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minimums, </a:t>
            </a:r>
            <a:r>
              <a:rPr sz="2500" dirty="0">
                <a:latin typeface="Arial MT"/>
                <a:cs typeface="Arial MT"/>
              </a:rPr>
              <a:t>locking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out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retail</a:t>
            </a:r>
            <a:r>
              <a:rPr sz="2500" spc="-45" dirty="0">
                <a:latin typeface="Arial MT"/>
                <a:cs typeface="Arial MT"/>
              </a:rPr>
              <a:t> and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mid-tier </a:t>
            </a:r>
            <a:r>
              <a:rPr sz="2400" spc="-10" dirty="0">
                <a:latin typeface="Arial MT"/>
                <a:cs typeface="Arial MT"/>
              </a:rPr>
              <a:t>participants.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3563" y="7592130"/>
            <a:ext cx="4528185" cy="147129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indent="10795" algn="ctr">
              <a:lnSpc>
                <a:spcPct val="87000"/>
              </a:lnSpc>
              <a:spcBef>
                <a:spcPts val="515"/>
              </a:spcBef>
            </a:pPr>
            <a:r>
              <a:rPr sz="2550" spc="-130" dirty="0">
                <a:latin typeface="Arial MT"/>
                <a:cs typeface="Arial MT"/>
              </a:rPr>
              <a:t>Severe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illiquidity.</a:t>
            </a:r>
            <a:r>
              <a:rPr sz="2550" spc="-15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The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average </a:t>
            </a:r>
            <a:r>
              <a:rPr sz="2700" spc="-155" dirty="0">
                <a:latin typeface="Arial MT"/>
                <a:cs typeface="Arial MT"/>
              </a:rPr>
              <a:t>commercial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spc="-180" dirty="0">
                <a:latin typeface="Arial MT"/>
                <a:cs typeface="Arial MT"/>
              </a:rPr>
              <a:t>real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estate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80" dirty="0">
                <a:latin typeface="Arial MT"/>
                <a:cs typeface="Arial MT"/>
              </a:rPr>
              <a:t>exit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spc="-130" dirty="0">
                <a:latin typeface="Arial MT"/>
                <a:cs typeface="Arial MT"/>
              </a:rPr>
              <a:t>takes </a:t>
            </a:r>
            <a:r>
              <a:rPr sz="2700" spc="-225" dirty="0">
                <a:latin typeface="Arial MT"/>
                <a:cs typeface="Arial MT"/>
              </a:rPr>
              <a:t>6+</a:t>
            </a:r>
            <a:r>
              <a:rPr sz="2700" spc="15" dirty="0">
                <a:latin typeface="Arial MT"/>
                <a:cs typeface="Arial MT"/>
              </a:rPr>
              <a:t> </a:t>
            </a:r>
            <a:r>
              <a:rPr sz="2700" spc="-125" dirty="0">
                <a:latin typeface="Arial MT"/>
                <a:cs typeface="Arial MT"/>
              </a:rPr>
              <a:t>months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settle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in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static </a:t>
            </a:r>
            <a:r>
              <a:rPr sz="2550" spc="-10" dirty="0">
                <a:latin typeface="Arial MT"/>
                <a:cs typeface="Arial MT"/>
              </a:rPr>
              <a:t>structures.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79329" y="2100438"/>
            <a:ext cx="457073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100" dirty="0">
                <a:solidFill>
                  <a:srgbClr val="181818"/>
                </a:solidFill>
                <a:latin typeface="Arial MT"/>
                <a:cs typeface="Arial MT"/>
              </a:rPr>
              <a:t>Opaque</a:t>
            </a:r>
            <a:r>
              <a:rPr sz="3600" spc="-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161616"/>
                </a:solidFill>
                <a:latin typeface="Arial MT"/>
                <a:cs typeface="Arial MT"/>
              </a:rPr>
              <a:t>Intermediaries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3349" y="7609769"/>
            <a:ext cx="4583430" cy="14503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-1270" algn="ctr">
              <a:lnSpc>
                <a:spcPct val="92800"/>
              </a:lnSpc>
              <a:spcBef>
                <a:spcPts val="335"/>
              </a:spcBef>
            </a:pPr>
            <a:r>
              <a:rPr sz="2400" dirty="0">
                <a:latin typeface="Arial MT"/>
                <a:cs typeface="Arial MT"/>
              </a:rPr>
              <a:t>Heavy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operational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friction. </a:t>
            </a:r>
            <a:r>
              <a:rPr sz="2500" spc="-70" dirty="0">
                <a:latin typeface="Arial MT"/>
                <a:cs typeface="Arial MT"/>
              </a:rPr>
              <a:t>Brokers,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lawyers,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and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legacy </a:t>
            </a:r>
            <a:r>
              <a:rPr sz="2550" spc="-65" dirty="0">
                <a:latin typeface="Arial MT"/>
                <a:cs typeface="Arial MT"/>
              </a:rPr>
              <a:t>escrow</a:t>
            </a:r>
            <a:r>
              <a:rPr sz="2550" spc="-70" dirty="0">
                <a:latin typeface="Arial MT"/>
                <a:cs typeface="Arial MT"/>
              </a:rPr>
              <a:t> systems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erode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yields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obscure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real-time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G</a:t>
            </a:r>
            <a:r>
              <a:rPr sz="1300" spc="484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Ορθογώνιο 10">
            <a:extLst>
              <a:ext uri="{FF2B5EF4-FFF2-40B4-BE49-F238E27FC236}">
                <a16:creationId xmlns:a16="http://schemas.microsoft.com/office/drawing/2014/main" id="{6F75C6A0-D74F-D04C-173E-7368F3541B2E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800" y="3835400"/>
            <a:ext cx="15430500" cy="16891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37500" y="958850"/>
            <a:ext cx="1587500" cy="0"/>
          </a:xfrm>
          <a:custGeom>
            <a:avLst/>
            <a:gdLst/>
            <a:ahLst/>
            <a:cxnLst/>
            <a:rect l="l" t="t" r="r" b="b"/>
            <a:pathLst>
              <a:path w="1587500">
                <a:moveTo>
                  <a:pt x="0" y="0"/>
                </a:moveTo>
                <a:lnTo>
                  <a:pt x="1587500" y="0"/>
                </a:lnTo>
              </a:path>
            </a:pathLst>
          </a:custGeom>
          <a:ln w="12700">
            <a:solidFill>
              <a:srgbClr val="9393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29000" y="9499600"/>
            <a:ext cx="1206500" cy="127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5370" y="751063"/>
            <a:ext cx="943991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dirty="0"/>
              <a:t>The</a:t>
            </a:r>
            <a:r>
              <a:rPr sz="5450" spc="-305" dirty="0"/>
              <a:t> </a:t>
            </a:r>
            <a:r>
              <a:rPr sz="5450" spc="75" dirty="0"/>
              <a:t>Asset-</a:t>
            </a:r>
            <a:r>
              <a:rPr sz="5450" spc="60" dirty="0"/>
              <a:t>to-</a:t>
            </a:r>
            <a:r>
              <a:rPr sz="5450" spc="65" dirty="0"/>
              <a:t>Liquidity</a:t>
            </a:r>
            <a:r>
              <a:rPr sz="5450" spc="-490" dirty="0"/>
              <a:t> </a:t>
            </a:r>
            <a:r>
              <a:rPr sz="5450" spc="-10" dirty="0"/>
              <a:t>Pipeline</a:t>
            </a:r>
            <a:endParaRPr sz="545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61344" y="6013409"/>
          <a:ext cx="15763238" cy="1577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1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6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4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7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0209">
                <a:tc>
                  <a:txBody>
                    <a:bodyPr/>
                    <a:lstStyle/>
                    <a:p>
                      <a:pPr marR="372745" algn="ct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Physical</a:t>
                      </a:r>
                      <a:r>
                        <a:rPr sz="24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Legal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2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Asset</a:t>
                      </a:r>
                      <a:r>
                        <a:rPr sz="240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Escrow</a:t>
                      </a:r>
                      <a:r>
                        <a:rPr sz="2400" spc="1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 MT"/>
                          <a:cs typeface="Arial MT"/>
                        </a:rPr>
                        <a:t>Fractional</a:t>
                      </a:r>
                      <a:r>
                        <a:rPr sz="2400" spc="3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2680"/>
                        </a:lnSpc>
                      </a:pPr>
                      <a:r>
                        <a:rPr sz="2400" spc="75" dirty="0">
                          <a:latin typeface="Arial MT"/>
                          <a:cs typeface="Arial MT"/>
                        </a:rPr>
                        <a:t>Liquidity</a:t>
                      </a:r>
                      <a:r>
                        <a:rPr sz="24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spc="-10" dirty="0">
                          <a:latin typeface="Arial MT"/>
                          <a:cs typeface="Arial MT"/>
                        </a:rPr>
                        <a:t>Layer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R="352425" algn="ct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spc="-10" dirty="0">
                          <a:latin typeface="Arial MT"/>
                          <a:cs typeface="Arial MT"/>
                        </a:rPr>
                        <a:t>Physical</a:t>
                      </a:r>
                      <a:r>
                        <a:rPr sz="18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Deed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Legal</a:t>
                      </a:r>
                      <a:r>
                        <a:rPr sz="185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50" dirty="0">
                          <a:latin typeface="Arial MT"/>
                          <a:cs typeface="Arial MT"/>
                        </a:rPr>
                        <a:t>SPV</a:t>
                      </a:r>
                      <a:r>
                        <a:rPr sz="185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holds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Master</a:t>
                      </a:r>
                      <a:r>
                        <a:rPr sz="18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45" dirty="0">
                          <a:latin typeface="Arial MT"/>
                          <a:cs typeface="Arial MT"/>
                        </a:rPr>
                        <a:t>NFT</a:t>
                      </a:r>
                      <a:r>
                        <a:rPr sz="185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minted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spc="-105" dirty="0">
                          <a:latin typeface="Arial MT"/>
                          <a:cs typeface="Arial MT"/>
                        </a:rPr>
                        <a:t>PDA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Vault</a:t>
                      </a:r>
                      <a:r>
                        <a:rPr sz="18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smart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78105" algn="ct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spc="-135" dirty="0">
                          <a:latin typeface="Arial MT"/>
                          <a:cs typeface="Arial MT"/>
                        </a:rPr>
                        <a:t>SPL</a:t>
                      </a:r>
                      <a:r>
                        <a:rPr sz="185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Tokens</a:t>
                      </a:r>
                      <a:r>
                        <a:rPr sz="18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minted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175"/>
                        </a:lnSpc>
                        <a:spcBef>
                          <a:spcPts val="365"/>
                        </a:spcBef>
                      </a:pPr>
                      <a:r>
                        <a:rPr sz="1850" spc="-180" dirty="0">
                          <a:latin typeface="Arial MT"/>
                          <a:cs typeface="Arial MT"/>
                        </a:rPr>
                        <a:t>DEX</a:t>
                      </a:r>
                      <a:r>
                        <a:rPr sz="18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Trading</a:t>
                      </a:r>
                      <a:r>
                        <a:rPr sz="18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opens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R="348615" algn="ctr">
                        <a:lnSpc>
                          <a:spcPts val="2050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undergoes</a:t>
                      </a:r>
                      <a:r>
                        <a:rPr sz="18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legal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2050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title,</a:t>
                      </a:r>
                      <a:r>
                        <a:rPr sz="1850" spc="1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ensuring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ts val="2050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85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3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single,</a:t>
                      </a:r>
                      <a:r>
                        <a:rPr sz="185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immutable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050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contract</a:t>
                      </a:r>
                      <a:r>
                        <a:rPr sz="1850" spc="2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securely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2050"/>
                        </a:lnSpc>
                      </a:pPr>
                      <a:r>
                        <a:rPr sz="1850" spc="-20" dirty="0">
                          <a:latin typeface="Arial MT"/>
                          <a:cs typeface="Arial MT"/>
                        </a:rPr>
                        <a:t>as</a:t>
                      </a:r>
                      <a:r>
                        <a:rPr sz="185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thousands</a:t>
                      </a:r>
                      <a:r>
                        <a:rPr sz="18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of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0">
                        <a:lnSpc>
                          <a:spcPts val="2050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global</a:t>
                      </a:r>
                      <a:r>
                        <a:rPr sz="1850" spc="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24/7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R="367030" algn="ctr">
                        <a:lnSpc>
                          <a:spcPts val="2095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audit</a:t>
                      </a:r>
                      <a:r>
                        <a:rPr sz="18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5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valuation.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4370" marR="601345" indent="50165">
                        <a:lnSpc>
                          <a:spcPts val="2150"/>
                        </a:lnSpc>
                      </a:pPr>
                      <a:r>
                        <a:rPr sz="1850" spc="-10" dirty="0">
                          <a:latin typeface="Arial MT"/>
                          <a:cs typeface="Arial MT"/>
                        </a:rPr>
                        <a:t>bankruptcy </a:t>
                      </a:r>
                      <a:r>
                        <a:rPr sz="1850" spc="-25" dirty="0">
                          <a:latin typeface="Arial MT"/>
                          <a:cs typeface="Arial MT"/>
                        </a:rPr>
                        <a:t>remoteness.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ts val="2095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digital</a:t>
                      </a:r>
                      <a:r>
                        <a:rPr sz="185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record.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095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locks</a:t>
                      </a:r>
                      <a:r>
                        <a:rPr sz="1850" spc="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18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20" dirty="0">
                          <a:latin typeface="Arial MT"/>
                          <a:cs typeface="Arial MT"/>
                        </a:rPr>
                        <a:t>NFT.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2095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fractional</a:t>
                      </a:r>
                      <a:r>
                        <a:rPr sz="1850" spc="1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shares.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95"/>
                        </a:lnSpc>
                      </a:pPr>
                      <a:r>
                        <a:rPr sz="1850" dirty="0">
                          <a:latin typeface="Arial MT"/>
                          <a:cs typeface="Arial MT"/>
                        </a:rPr>
                        <a:t>automated</a:t>
                      </a:r>
                      <a:r>
                        <a:rPr sz="1850" spc="114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spc="-10" dirty="0">
                          <a:latin typeface="Arial MT"/>
                          <a:cs typeface="Arial MT"/>
                        </a:rPr>
                        <a:t>markets.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ED1E57D5-236D-8377-C5C2-B22AC5694035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3022600"/>
            <a:ext cx="5549900" cy="504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2600" y="6883400"/>
            <a:ext cx="7226300" cy="214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2600" y="4432300"/>
            <a:ext cx="7226300" cy="2184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30917" y="3001432"/>
            <a:ext cx="0" cy="4749800"/>
          </a:xfrm>
          <a:custGeom>
            <a:avLst/>
            <a:gdLst/>
            <a:ahLst/>
            <a:cxnLst/>
            <a:rect l="l" t="t" r="r" b="b"/>
            <a:pathLst>
              <a:path h="4749800">
                <a:moveTo>
                  <a:pt x="0" y="4749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770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824567" y="3001432"/>
            <a:ext cx="5676900" cy="4457700"/>
            <a:chOff x="1824567" y="3001432"/>
            <a:chExt cx="5676900" cy="4457700"/>
          </a:xfrm>
        </p:grpSpPr>
        <p:sp>
          <p:nvSpPr>
            <p:cNvPr id="7" name="object 7"/>
            <p:cNvSpPr/>
            <p:nvPr/>
          </p:nvSpPr>
          <p:spPr>
            <a:xfrm>
              <a:off x="7495117" y="3001432"/>
              <a:ext cx="0" cy="4457700"/>
            </a:xfrm>
            <a:custGeom>
              <a:avLst/>
              <a:gdLst/>
              <a:ahLst/>
              <a:cxnLst/>
              <a:rect l="l" t="t" r="r" b="b"/>
              <a:pathLst>
                <a:path h="4457700">
                  <a:moveTo>
                    <a:pt x="0" y="44577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770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24567" y="3007782"/>
              <a:ext cx="5676900" cy="0"/>
            </a:xfrm>
            <a:custGeom>
              <a:avLst/>
              <a:gdLst/>
              <a:ahLst/>
              <a:cxnLst/>
              <a:rect l="l" t="t" r="r" b="b"/>
              <a:pathLst>
                <a:path w="5676900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ln w="12700">
              <a:solidFill>
                <a:srgbClr val="6770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824567" y="7744883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700">
            <a:solidFill>
              <a:srgbClr val="6770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930400" y="3031067"/>
            <a:ext cx="5528945" cy="4614545"/>
            <a:chOff x="1930400" y="3031067"/>
            <a:chExt cx="5528945" cy="4614545"/>
          </a:xfrm>
        </p:grpSpPr>
        <p:sp>
          <p:nvSpPr>
            <p:cNvPr id="11" name="object 11"/>
            <p:cNvSpPr/>
            <p:nvPr/>
          </p:nvSpPr>
          <p:spPr>
            <a:xfrm>
              <a:off x="1945216" y="3031067"/>
              <a:ext cx="0" cy="4614545"/>
            </a:xfrm>
            <a:custGeom>
              <a:avLst/>
              <a:gdLst/>
              <a:ahLst/>
              <a:cxnLst/>
              <a:rect l="l" t="t" r="r" b="b"/>
              <a:pathLst>
                <a:path h="4614545">
                  <a:moveTo>
                    <a:pt x="0" y="4614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646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30400" y="3033183"/>
              <a:ext cx="5528945" cy="0"/>
            </a:xfrm>
            <a:custGeom>
              <a:avLst/>
              <a:gdLst/>
              <a:ahLst/>
              <a:cxnLst/>
              <a:rect l="l" t="t" r="r" b="b"/>
              <a:pathLst>
                <a:path w="5528945">
                  <a:moveTo>
                    <a:pt x="0" y="0"/>
                  </a:moveTo>
                  <a:lnTo>
                    <a:pt x="5528733" y="0"/>
                  </a:lnTo>
                </a:path>
              </a:pathLst>
            </a:custGeom>
            <a:ln w="4233">
              <a:solidFill>
                <a:srgbClr val="646B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5303500" y="42015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078200" y="4201583"/>
            <a:ext cx="271145" cy="0"/>
          </a:xfrm>
          <a:custGeom>
            <a:avLst/>
            <a:gdLst/>
            <a:ahLst/>
            <a:cxnLst/>
            <a:rect l="l" t="t" r="r" b="b"/>
            <a:pathLst>
              <a:path w="271144">
                <a:moveTo>
                  <a:pt x="0" y="0"/>
                </a:moveTo>
                <a:lnTo>
                  <a:pt x="2709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86900" y="2133600"/>
            <a:ext cx="7010400" cy="19685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85370" y="751063"/>
            <a:ext cx="12634595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-75" dirty="0"/>
              <a:t>The</a:t>
            </a:r>
            <a:r>
              <a:rPr sz="5450" spc="-355" dirty="0"/>
              <a:t> </a:t>
            </a:r>
            <a:r>
              <a:rPr sz="5450" spc="-225" dirty="0"/>
              <a:t>Legal</a:t>
            </a:r>
            <a:r>
              <a:rPr sz="5450" spc="-229" dirty="0"/>
              <a:t> </a:t>
            </a:r>
            <a:r>
              <a:rPr sz="5450" spc="-195" dirty="0"/>
              <a:t>Wrapper:</a:t>
            </a:r>
            <a:r>
              <a:rPr sz="5450" spc="-185" dirty="0"/>
              <a:t> </a:t>
            </a:r>
            <a:r>
              <a:rPr sz="5450" spc="-130" dirty="0"/>
              <a:t>Bridging</a:t>
            </a:r>
            <a:r>
              <a:rPr sz="5450" spc="-50" dirty="0"/>
              <a:t> </a:t>
            </a:r>
            <a:r>
              <a:rPr sz="5450" spc="-245" dirty="0">
                <a:solidFill>
                  <a:srgbClr val="0C0C0C"/>
                </a:solidFill>
              </a:rPr>
              <a:t>Law</a:t>
            </a:r>
            <a:r>
              <a:rPr sz="5450" spc="-175" dirty="0">
                <a:solidFill>
                  <a:srgbClr val="0C0C0C"/>
                </a:solidFill>
              </a:rPr>
              <a:t> </a:t>
            </a:r>
            <a:r>
              <a:rPr sz="5450" dirty="0">
                <a:solidFill>
                  <a:srgbClr val="0C0C0C"/>
                </a:solidFill>
              </a:rPr>
              <a:t>to</a:t>
            </a:r>
            <a:r>
              <a:rPr sz="5450" spc="-440" dirty="0">
                <a:solidFill>
                  <a:srgbClr val="0C0C0C"/>
                </a:solidFill>
              </a:rPr>
              <a:t> </a:t>
            </a:r>
            <a:r>
              <a:rPr sz="5450" spc="-30" dirty="0"/>
              <a:t>Ledger</a:t>
            </a:r>
            <a:endParaRPr sz="545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55283" y="4125383"/>
            <a:ext cx="5198745" cy="2709545"/>
          </a:xfrm>
          <a:prstGeom prst="rect">
            <a:avLst/>
          </a:prstGeom>
          <a:ln w="21166">
            <a:solidFill>
              <a:srgbClr val="6B7483"/>
            </a:solidFill>
          </a:ln>
        </p:spPr>
        <p:txBody>
          <a:bodyPr vert="horz" wrap="square" lIns="0" tIns="345440" rIns="0" bIns="0" rtlCol="0">
            <a:spAutoFit/>
          </a:bodyPr>
          <a:lstStyle/>
          <a:p>
            <a:pPr marL="526415" marR="426720" indent="-28575" algn="just">
              <a:lnSpc>
                <a:spcPct val="99800"/>
              </a:lnSpc>
              <a:spcBef>
                <a:spcPts val="2720"/>
              </a:spcBef>
            </a:pPr>
            <a:r>
              <a:rPr sz="2500" spc="-25" dirty="0">
                <a:latin typeface="Arial MT"/>
                <a:cs typeface="Arial MT"/>
              </a:rPr>
              <a:t>Direct</a:t>
            </a:r>
            <a:r>
              <a:rPr sz="2500" spc="-150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tokenization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55" dirty="0">
                <a:latin typeface="Arial MT"/>
                <a:cs typeface="Arial MT"/>
              </a:rPr>
              <a:t>land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titles </a:t>
            </a:r>
            <a:r>
              <a:rPr sz="2550" dirty="0">
                <a:latin typeface="Arial MT"/>
                <a:cs typeface="Arial MT"/>
              </a:rPr>
              <a:t>is</a:t>
            </a:r>
            <a:r>
              <a:rPr sz="2550" spc="-17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restricted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by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80" dirty="0">
                <a:latin typeface="Arial MT"/>
                <a:cs typeface="Arial MT"/>
              </a:rPr>
              <a:t>legacy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property </a:t>
            </a:r>
            <a:r>
              <a:rPr sz="2500" spc="-50" dirty="0">
                <a:latin typeface="Arial MT"/>
                <a:cs typeface="Arial MT"/>
              </a:rPr>
              <a:t>registries.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We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bridge</a:t>
            </a:r>
            <a:r>
              <a:rPr sz="2500" spc="-1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this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gap</a:t>
            </a:r>
            <a:endParaRPr sz="2500">
              <a:latin typeface="Arial MT"/>
              <a:cs typeface="Arial MT"/>
            </a:endParaRPr>
          </a:p>
          <a:p>
            <a:pPr marL="61594" algn="ctr">
              <a:lnSpc>
                <a:spcPct val="100000"/>
              </a:lnSpc>
            </a:pPr>
            <a:r>
              <a:rPr sz="2500" spc="-25" dirty="0">
                <a:latin typeface="Arial MT"/>
                <a:cs typeface="Arial MT"/>
              </a:rPr>
              <a:t>through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Special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85" dirty="0">
                <a:latin typeface="Arial MT"/>
                <a:cs typeface="Arial MT"/>
              </a:rPr>
              <a:t>Purpose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Vehicle</a:t>
            </a:r>
            <a:endParaRPr sz="2500">
              <a:latin typeface="Arial MT"/>
              <a:cs typeface="Arial MT"/>
            </a:endParaRPr>
          </a:p>
          <a:p>
            <a:pPr marL="48895" algn="ctr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latin typeface="Arial MT"/>
                <a:cs typeface="Arial MT"/>
              </a:rPr>
              <a:t>(SPV)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framework.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13766" y="2226982"/>
            <a:ext cx="5896610" cy="164973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900" dirty="0">
                <a:latin typeface="Arial MT"/>
                <a:cs typeface="Arial MT"/>
              </a:rPr>
              <a:t>Bankruptcy</a:t>
            </a:r>
            <a:r>
              <a:rPr sz="2900" spc="8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Remoteness</a:t>
            </a:r>
            <a:endParaRPr sz="2900">
              <a:latin typeface="Arial MT"/>
              <a:cs typeface="Arial MT"/>
            </a:endParaRPr>
          </a:p>
          <a:p>
            <a:pPr marL="29209" marR="5080" indent="-13335">
              <a:lnSpc>
                <a:spcPts val="2550"/>
              </a:lnSpc>
              <a:spcBef>
                <a:spcPts val="930"/>
              </a:spcBef>
            </a:pPr>
            <a:r>
              <a:rPr sz="2350" spc="-30" dirty="0">
                <a:latin typeface="Arial MT"/>
                <a:cs typeface="Arial MT"/>
              </a:rPr>
              <a:t>Property</a:t>
            </a:r>
            <a:r>
              <a:rPr sz="2350" spc="-1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title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is</a:t>
            </a:r>
            <a:r>
              <a:rPr sz="2350" spc="-17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held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by</a:t>
            </a:r>
            <a:r>
              <a:rPr sz="2350" spc="-13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an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independent</a:t>
            </a:r>
            <a:r>
              <a:rPr sz="2350" spc="155" dirty="0">
                <a:latin typeface="Arial MT"/>
                <a:cs typeface="Arial MT"/>
              </a:rPr>
              <a:t> </a:t>
            </a:r>
            <a:r>
              <a:rPr sz="2350" spc="-200" dirty="0">
                <a:latin typeface="Arial MT"/>
                <a:cs typeface="Arial MT"/>
              </a:rPr>
              <a:t>LLC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or </a:t>
            </a:r>
            <a:r>
              <a:rPr sz="2350" spc="-75" dirty="0">
                <a:latin typeface="Arial MT"/>
                <a:cs typeface="Arial MT"/>
              </a:rPr>
              <a:t>Trust,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protecting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the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asset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from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protocol</a:t>
            </a:r>
            <a:r>
              <a:rPr sz="2350" spc="-4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or </a:t>
            </a:r>
            <a:r>
              <a:rPr sz="2350" spc="-60" dirty="0">
                <a:latin typeface="Arial MT"/>
                <a:cs typeface="Arial MT"/>
              </a:rPr>
              <a:t>developer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insolvency.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21278" y="4641476"/>
            <a:ext cx="6186170" cy="16484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sz="2900" dirty="0">
                <a:latin typeface="Arial MT"/>
                <a:cs typeface="Arial MT"/>
              </a:rPr>
              <a:t>Liability</a:t>
            </a:r>
            <a:r>
              <a:rPr sz="2900" spc="6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Limitation</a:t>
            </a:r>
            <a:endParaRPr sz="2900">
              <a:latin typeface="Arial MT"/>
              <a:cs typeface="Arial MT"/>
            </a:endParaRPr>
          </a:p>
          <a:p>
            <a:pPr marL="12700" marR="5080" indent="12065">
              <a:lnSpc>
                <a:spcPts val="2600"/>
              </a:lnSpc>
              <a:spcBef>
                <a:spcPts val="840"/>
              </a:spcBef>
            </a:pPr>
            <a:r>
              <a:rPr sz="2350" spc="-145" dirty="0">
                <a:latin typeface="Arial MT"/>
                <a:cs typeface="Arial MT"/>
              </a:rPr>
              <a:t>Token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holders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105" dirty="0">
                <a:latin typeface="Arial MT"/>
                <a:cs typeface="Arial MT"/>
              </a:rPr>
              <a:t>are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shielded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from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personal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liability </a:t>
            </a:r>
            <a:r>
              <a:rPr sz="2350" spc="-50" dirty="0">
                <a:latin typeface="Arial MT"/>
                <a:cs typeface="Arial MT"/>
              </a:rPr>
              <a:t>beyond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their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fractional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investment,</a:t>
            </a:r>
            <a:r>
              <a:rPr sz="2350" spc="-2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mirroring </a:t>
            </a:r>
            <a:r>
              <a:rPr sz="2350" spc="-25" dirty="0">
                <a:latin typeface="Arial MT"/>
                <a:cs typeface="Arial MT"/>
              </a:rPr>
              <a:t>traditional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stock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protections.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21426" y="7041776"/>
            <a:ext cx="6151245" cy="16484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800"/>
              </a:spcBef>
            </a:pPr>
            <a:r>
              <a:rPr sz="2900" spc="-45" dirty="0">
                <a:latin typeface="Arial MT"/>
                <a:cs typeface="Arial MT"/>
              </a:rPr>
              <a:t>Legal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Enforceability</a:t>
            </a:r>
            <a:endParaRPr sz="2900">
              <a:latin typeface="Arial MT"/>
              <a:cs typeface="Arial MT"/>
            </a:endParaRPr>
          </a:p>
          <a:p>
            <a:pPr marL="12700" marR="5080" indent="12065">
              <a:lnSpc>
                <a:spcPts val="2600"/>
              </a:lnSpc>
              <a:spcBef>
                <a:spcPts val="840"/>
              </a:spcBef>
            </a:pPr>
            <a:r>
              <a:rPr sz="2350" spc="-114" dirty="0">
                <a:latin typeface="Arial MT"/>
                <a:cs typeface="Arial MT"/>
              </a:rPr>
              <a:t>The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spc="-245" dirty="0">
                <a:latin typeface="Arial MT"/>
                <a:cs typeface="Arial MT"/>
              </a:rPr>
              <a:t>SPV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operating</a:t>
            </a:r>
            <a:r>
              <a:rPr sz="2350" spc="-125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agreement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legally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recognizes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blockchain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ledger</a:t>
            </a:r>
            <a:r>
              <a:rPr sz="2350" spc="35" dirty="0">
                <a:latin typeface="Arial MT"/>
                <a:cs typeface="Arial MT"/>
              </a:rPr>
              <a:t> </a:t>
            </a:r>
            <a:r>
              <a:rPr sz="2350" spc="-140" dirty="0">
                <a:latin typeface="Arial MT"/>
                <a:cs typeface="Arial MT"/>
              </a:rPr>
              <a:t>as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definitive,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binding </a:t>
            </a:r>
            <a:r>
              <a:rPr sz="2350" spc="-30" dirty="0">
                <a:latin typeface="Arial MT"/>
                <a:cs typeface="Arial MT"/>
              </a:rPr>
              <a:t>record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10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ownership.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2" name="Ορθογώνιο 21">
            <a:extLst>
              <a:ext uri="{FF2B5EF4-FFF2-40B4-BE49-F238E27FC236}">
                <a16:creationId xmlns:a16="http://schemas.microsoft.com/office/drawing/2014/main" id="{CA98A715-9C45-AF17-79AC-755E64D3B6C5}"/>
              </a:ext>
            </a:extLst>
          </p:cNvPr>
          <p:cNvSpPr/>
          <p:nvPr/>
        </p:nvSpPr>
        <p:spPr>
          <a:xfrm>
            <a:off x="15900400" y="9526905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7900" y="1295400"/>
            <a:ext cx="7353300" cy="7302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517" y="457199"/>
            <a:ext cx="6873875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25"/>
              </a:lnSpc>
              <a:spcBef>
                <a:spcPts val="100"/>
              </a:spcBef>
            </a:pPr>
            <a:r>
              <a:rPr sz="5000" spc="-195" dirty="0"/>
              <a:t>Trustless</a:t>
            </a:r>
            <a:r>
              <a:rPr sz="5000" spc="-95" dirty="0"/>
              <a:t> </a:t>
            </a:r>
            <a:r>
              <a:rPr sz="5000" spc="-295" dirty="0"/>
              <a:t>Escrow:</a:t>
            </a:r>
            <a:endParaRPr sz="5000"/>
          </a:p>
          <a:p>
            <a:pPr marL="12700">
              <a:lnSpc>
                <a:spcPts val="5425"/>
              </a:lnSpc>
            </a:pPr>
            <a:r>
              <a:rPr sz="5000" spc="-290" dirty="0"/>
              <a:t>The</a:t>
            </a:r>
            <a:r>
              <a:rPr sz="5000" spc="-204" dirty="0"/>
              <a:t> </a:t>
            </a:r>
            <a:r>
              <a:rPr sz="5000" spc="-590" dirty="0"/>
              <a:t>PDA</a:t>
            </a:r>
            <a:r>
              <a:rPr sz="5000" spc="-45" dirty="0"/>
              <a:t> </a:t>
            </a:r>
            <a:r>
              <a:rPr sz="5000" spc="-305" dirty="0"/>
              <a:t>Vault</a:t>
            </a:r>
            <a:r>
              <a:rPr sz="5000" spc="-25" dirty="0"/>
              <a:t> </a:t>
            </a:r>
            <a:r>
              <a:rPr sz="5000" spc="-180" dirty="0"/>
              <a:t>Mechanism</a:t>
            </a:r>
            <a:endParaRPr sz="50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42264" y="4426369"/>
            <a:ext cx="3712845" cy="250698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3450" spc="-170" dirty="0">
                <a:latin typeface="Arial MT"/>
                <a:cs typeface="Arial MT"/>
              </a:rPr>
              <a:t>The</a:t>
            </a:r>
            <a:r>
              <a:rPr sz="3450" spc="-155" dirty="0">
                <a:latin typeface="Arial MT"/>
                <a:cs typeface="Arial MT"/>
              </a:rPr>
              <a:t> </a:t>
            </a:r>
            <a:r>
              <a:rPr sz="3450" spc="-135" dirty="0">
                <a:latin typeface="Arial MT"/>
                <a:cs typeface="Arial MT"/>
              </a:rPr>
              <a:t>Root</a:t>
            </a:r>
            <a:r>
              <a:rPr sz="3450" spc="-60" dirty="0">
                <a:latin typeface="Arial MT"/>
                <a:cs typeface="Arial MT"/>
              </a:rPr>
              <a:t> </a:t>
            </a:r>
            <a:r>
              <a:rPr sz="3450" spc="-10" dirty="0">
                <a:latin typeface="Arial MT"/>
                <a:cs typeface="Arial MT"/>
              </a:rPr>
              <a:t>Asset</a:t>
            </a:r>
            <a:endParaRPr sz="3450">
              <a:latin typeface="Arial MT"/>
              <a:cs typeface="Arial MT"/>
            </a:endParaRPr>
          </a:p>
          <a:p>
            <a:pPr marL="22225" marR="5080" indent="5715">
              <a:lnSpc>
                <a:spcPct val="87500"/>
              </a:lnSpc>
              <a:spcBef>
                <a:spcPts val="945"/>
              </a:spcBef>
              <a:tabLst>
                <a:tab pos="3108325" algn="l"/>
              </a:tabLst>
            </a:pPr>
            <a:r>
              <a:rPr sz="2550" spc="-254" dirty="0">
                <a:latin typeface="Arial MT"/>
                <a:cs typeface="Arial MT"/>
              </a:rPr>
              <a:t>The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110" dirty="0">
                <a:latin typeface="Arial MT"/>
                <a:cs typeface="Arial MT"/>
              </a:rPr>
              <a:t>property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is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digitized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260" dirty="0">
                <a:latin typeface="Arial MT"/>
                <a:cs typeface="Arial MT"/>
              </a:rPr>
              <a:t>as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335" dirty="0">
                <a:latin typeface="Arial MT"/>
                <a:cs typeface="Arial MT"/>
              </a:rPr>
              <a:t>a </a:t>
            </a:r>
            <a:r>
              <a:rPr sz="2550" spc="-20" dirty="0">
                <a:latin typeface="Arial MT"/>
                <a:cs typeface="Arial MT"/>
              </a:rPr>
              <a:t>i-</a:t>
            </a:r>
            <a:r>
              <a:rPr sz="2550" dirty="0">
                <a:latin typeface="Arial MT"/>
                <a:cs typeface="Arial MT"/>
              </a:rPr>
              <a:t>o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-</a:t>
            </a:r>
            <a:r>
              <a:rPr sz="2550" spc="-34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</a:t>
            </a:r>
            <a:r>
              <a:rPr sz="2550" spc="-30" dirty="0">
                <a:latin typeface="Arial MT"/>
                <a:cs typeface="Arial MT"/>
              </a:rPr>
              <a:t> </a:t>
            </a:r>
            <a:r>
              <a:rPr sz="2550" spc="-175" dirty="0">
                <a:latin typeface="Arial MT"/>
                <a:cs typeface="Arial MT"/>
              </a:rPr>
              <a:t>Master</a:t>
            </a:r>
            <a:r>
              <a:rPr sz="2550" spc="95" dirty="0">
                <a:latin typeface="Arial MT"/>
                <a:cs typeface="Arial MT"/>
              </a:rPr>
              <a:t> </a:t>
            </a:r>
            <a:r>
              <a:rPr sz="2550" spc="-110" dirty="0">
                <a:latin typeface="Arial MT"/>
                <a:cs typeface="Arial MT"/>
              </a:rPr>
              <a:t>uaition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ur</a:t>
            </a:r>
            <a:r>
              <a:rPr sz="2550" dirty="0">
                <a:latin typeface="Arial MT"/>
                <a:cs typeface="Arial MT"/>
              </a:rPr>
              <a:t>	</a:t>
            </a:r>
            <a:r>
              <a:rPr sz="2550" spc="-50" dirty="0">
                <a:latin typeface="Arial MT"/>
                <a:cs typeface="Arial MT"/>
              </a:rPr>
              <a:t>i </a:t>
            </a:r>
            <a:r>
              <a:rPr sz="2700" spc="-220" dirty="0">
                <a:latin typeface="Arial MT"/>
                <a:cs typeface="Arial MT"/>
              </a:rPr>
              <a:t>containing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285" dirty="0">
                <a:latin typeface="Arial MT"/>
                <a:cs typeface="Arial MT"/>
              </a:rPr>
              <a:t>IPFS-pinned </a:t>
            </a:r>
            <a:r>
              <a:rPr sz="2550" spc="-170" dirty="0">
                <a:latin typeface="Arial MT"/>
                <a:cs typeface="Arial MT"/>
              </a:rPr>
              <a:t>appraisals,</a:t>
            </a:r>
            <a:r>
              <a:rPr sz="2550" spc="7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title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insurance, </a:t>
            </a:r>
            <a:r>
              <a:rPr sz="2700" spc="-290" dirty="0">
                <a:latin typeface="Arial MT"/>
                <a:cs typeface="Arial MT"/>
              </a:rPr>
              <a:t>and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240" dirty="0">
                <a:latin typeface="Arial MT"/>
                <a:cs typeface="Arial MT"/>
              </a:rPr>
              <a:t>legal</a:t>
            </a:r>
            <a:r>
              <a:rPr sz="2700" spc="70" dirty="0">
                <a:latin typeface="Arial MT"/>
                <a:cs typeface="Arial MT"/>
              </a:rPr>
              <a:t> </a:t>
            </a:r>
            <a:r>
              <a:rPr sz="2700" spc="-275" dirty="0">
                <a:latin typeface="Arial MT"/>
                <a:cs typeface="Arial MT"/>
              </a:rPr>
              <a:t>agreements.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5107" y="5041547"/>
            <a:ext cx="1691639" cy="62039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3500" marR="5080" indent="-50800">
              <a:lnSpc>
                <a:spcPts val="2100"/>
              </a:lnSpc>
              <a:spcBef>
                <a:spcPts val="570"/>
              </a:spcBef>
            </a:pPr>
            <a:r>
              <a:rPr sz="2150" spc="-30" dirty="0">
                <a:latin typeface="Arial MT"/>
                <a:cs typeface="Arial MT"/>
              </a:rPr>
              <a:t>Master</a:t>
            </a:r>
            <a:r>
              <a:rPr sz="2150" spc="-110" dirty="0">
                <a:latin typeface="Arial MT"/>
                <a:cs typeface="Arial MT"/>
              </a:rPr>
              <a:t> </a:t>
            </a:r>
            <a:r>
              <a:rPr sz="2150" spc="-65" dirty="0">
                <a:latin typeface="Arial MT"/>
                <a:cs typeface="Arial MT"/>
              </a:rPr>
              <a:t>Edition </a:t>
            </a:r>
            <a:r>
              <a:rPr sz="2150" spc="-50" dirty="0">
                <a:latin typeface="Arial MT"/>
                <a:cs typeface="Arial MT"/>
              </a:rPr>
              <a:t>Metaplex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spc="-145" dirty="0">
                <a:latin typeface="Arial MT"/>
                <a:cs typeface="Arial MT"/>
              </a:rPr>
              <a:t>NFT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7888" y="8622947"/>
            <a:ext cx="2349500" cy="618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ts val="2390"/>
              </a:lnSpc>
              <a:spcBef>
                <a:spcPts val="100"/>
              </a:spcBef>
            </a:pPr>
            <a:r>
              <a:rPr sz="2150" spc="-75" dirty="0">
                <a:latin typeface="Arial MT"/>
                <a:cs typeface="Arial MT"/>
              </a:rPr>
              <a:t>Program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Derived</a:t>
            </a:r>
            <a:endParaRPr sz="2150">
              <a:latin typeface="Arial MT"/>
              <a:cs typeface="Arial MT"/>
            </a:endParaRPr>
          </a:p>
          <a:p>
            <a:pPr algn="ctr">
              <a:lnSpc>
                <a:spcPts val="2270"/>
              </a:lnSpc>
            </a:pPr>
            <a:r>
              <a:rPr sz="2050" dirty="0">
                <a:latin typeface="Arial MT"/>
                <a:cs typeface="Arial MT"/>
              </a:rPr>
              <a:t>Address</a:t>
            </a:r>
            <a:r>
              <a:rPr sz="2050" spc="-85" dirty="0">
                <a:latin typeface="Arial MT"/>
                <a:cs typeface="Arial MT"/>
              </a:rPr>
              <a:t> </a:t>
            </a:r>
            <a:r>
              <a:rPr sz="2050" spc="-70" dirty="0">
                <a:latin typeface="Arial MT"/>
                <a:cs typeface="Arial MT"/>
              </a:rPr>
              <a:t>(PDA)</a:t>
            </a:r>
            <a:r>
              <a:rPr sz="2050" spc="-1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Vault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3678" y="5487147"/>
            <a:ext cx="4565015" cy="287718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3300" spc="-55" dirty="0">
                <a:latin typeface="Arial MT"/>
                <a:cs typeface="Arial MT"/>
              </a:rPr>
              <a:t>The</a:t>
            </a:r>
            <a:r>
              <a:rPr sz="3300" spc="-175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Lock</a:t>
            </a:r>
            <a:endParaRPr sz="3300">
              <a:latin typeface="Arial MT"/>
              <a:cs typeface="Arial MT"/>
            </a:endParaRPr>
          </a:p>
          <a:p>
            <a:pPr marL="26670" marR="5080" indent="1270">
              <a:lnSpc>
                <a:spcPct val="99700"/>
              </a:lnSpc>
              <a:spcBef>
                <a:spcPts val="844"/>
              </a:spcBef>
            </a:pPr>
            <a:r>
              <a:rPr sz="2350" spc="-100" dirty="0">
                <a:latin typeface="Arial MT"/>
                <a:cs typeface="Arial MT"/>
              </a:rPr>
              <a:t>The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240" dirty="0">
                <a:latin typeface="Arial MT"/>
                <a:cs typeface="Arial MT"/>
              </a:rPr>
              <a:t>NFT</a:t>
            </a:r>
            <a:r>
              <a:rPr sz="2350" spc="7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is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deposited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into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290" dirty="0">
                <a:latin typeface="Arial MT"/>
                <a:cs typeface="Arial MT"/>
              </a:rPr>
              <a:t>a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PDA. </a:t>
            </a:r>
            <a:r>
              <a:rPr sz="2300" spc="-95" dirty="0">
                <a:latin typeface="Arial MT"/>
                <a:cs typeface="Arial MT"/>
              </a:rPr>
              <a:t>Because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PDAs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have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no</a:t>
            </a:r>
            <a:r>
              <a:rPr sz="2300" spc="-10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private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keys,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asset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cannot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be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moved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by </a:t>
            </a:r>
            <a:r>
              <a:rPr sz="2300" spc="-100" dirty="0">
                <a:latin typeface="Arial MT"/>
                <a:cs typeface="Arial MT"/>
              </a:rPr>
              <a:t>human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intervention—</a:t>
            </a:r>
            <a:r>
              <a:rPr sz="2300" dirty="0">
                <a:latin typeface="Arial MT"/>
                <a:cs typeface="Arial MT"/>
              </a:rPr>
              <a:t>only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by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pre-programmed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consensus</a:t>
            </a:r>
            <a:r>
              <a:rPr sz="2200" spc="1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300" spc="-45" dirty="0">
                <a:latin typeface="Arial MT"/>
                <a:cs typeface="Arial MT"/>
              </a:rPr>
              <a:t>Anchor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smart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contract.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826611D8-624E-CC1F-898E-734124E38D8A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00" y="2311400"/>
            <a:ext cx="5854700" cy="397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5100" y="3124200"/>
            <a:ext cx="1905000" cy="2349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7100" y="3949700"/>
            <a:ext cx="1143000" cy="736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37900" y="2298700"/>
            <a:ext cx="5422900" cy="3962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90"/>
              </a:spcBef>
            </a:pPr>
            <a:r>
              <a:rPr sz="4800" spc="-30" dirty="0"/>
              <a:t>Fractionalization:</a:t>
            </a:r>
            <a:r>
              <a:rPr sz="4800" spc="-305" dirty="0"/>
              <a:t> </a:t>
            </a:r>
            <a:r>
              <a:rPr sz="4800" spc="-20" dirty="0"/>
              <a:t>Democratizing</a:t>
            </a:r>
            <a:r>
              <a:rPr sz="4800" spc="-100" dirty="0"/>
              <a:t> </a:t>
            </a:r>
            <a:r>
              <a:rPr sz="4800" spc="-10" dirty="0"/>
              <a:t>Capital</a:t>
            </a:r>
            <a:endParaRPr sz="48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0122" y="6395508"/>
            <a:ext cx="240538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30" dirty="0">
                <a:latin typeface="Arial MT"/>
                <a:cs typeface="Arial MT"/>
              </a:rPr>
              <a:t>Value: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$5,000,000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9642" y="7724069"/>
            <a:ext cx="5203190" cy="146304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9525">
              <a:lnSpc>
                <a:spcPts val="2800"/>
              </a:lnSpc>
              <a:spcBef>
                <a:spcPts val="290"/>
              </a:spcBef>
            </a:pPr>
            <a:r>
              <a:rPr sz="2400" spc="-30" dirty="0">
                <a:latin typeface="Arial MT"/>
                <a:cs typeface="Arial MT"/>
              </a:rPr>
              <a:t>Once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Master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NFT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spc="10" dirty="0">
                <a:latin typeface="Arial MT"/>
                <a:cs typeface="Arial MT"/>
              </a:rPr>
              <a:t>cryptographically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locked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in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1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PDA Vault,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contract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automatically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mints </a:t>
            </a:r>
            <a:r>
              <a:rPr sz="2400" spc="-220" dirty="0">
                <a:latin typeface="Arial MT"/>
                <a:cs typeface="Arial MT"/>
              </a:rPr>
              <a:t>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predefined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supply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SPL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tokens.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20828" y="5878688"/>
            <a:ext cx="2007870" cy="6902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524510" marR="5080" indent="-512445">
              <a:lnSpc>
                <a:spcPts val="2400"/>
              </a:lnSpc>
              <a:spcBef>
                <a:spcPts val="540"/>
              </a:spcBef>
            </a:pPr>
            <a:r>
              <a:rPr sz="2350" spc="-20" dirty="0">
                <a:latin typeface="Arial MT"/>
                <a:cs typeface="Arial MT"/>
              </a:rPr>
              <a:t>Smart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Contract Minting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75288" y="6360230"/>
            <a:ext cx="2748915" cy="716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830"/>
              </a:lnSpc>
              <a:spcBef>
                <a:spcPts val="120"/>
              </a:spcBef>
            </a:pPr>
            <a:r>
              <a:rPr sz="2550" spc="-60" dirty="0">
                <a:latin typeface="Consolas"/>
                <a:cs typeface="Consolas"/>
              </a:rPr>
              <a:t>100,000SPLTokens</a:t>
            </a:r>
            <a:endParaRPr sz="2550">
              <a:latin typeface="Consolas"/>
              <a:cs typeface="Consolas"/>
            </a:endParaRPr>
          </a:p>
          <a:p>
            <a:pPr marR="24130" algn="ctr">
              <a:lnSpc>
                <a:spcPts val="2590"/>
              </a:lnSpc>
            </a:pPr>
            <a:r>
              <a:rPr sz="2350" spc="-245" dirty="0">
                <a:latin typeface="Arial MT"/>
                <a:cs typeface="Arial MT"/>
              </a:rPr>
              <a:t>@</a:t>
            </a:r>
            <a:r>
              <a:rPr sz="2350" spc="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$50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each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5406" y="7706430"/>
            <a:ext cx="4340860" cy="1483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3810">
              <a:lnSpc>
                <a:spcPts val="2800"/>
              </a:lnSpc>
              <a:spcBef>
                <a:spcPts val="430"/>
              </a:spcBef>
            </a:pPr>
            <a:r>
              <a:rPr sz="2550" spc="-120" dirty="0">
                <a:latin typeface="Arial MT"/>
                <a:cs typeface="Arial MT"/>
              </a:rPr>
              <a:t>These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tokens </a:t>
            </a:r>
            <a:r>
              <a:rPr sz="2550" spc="-70" dirty="0">
                <a:latin typeface="Arial MT"/>
                <a:cs typeface="Arial MT"/>
              </a:rPr>
              <a:t>represent</a:t>
            </a:r>
            <a:r>
              <a:rPr sz="2550" spc="-30" dirty="0">
                <a:latin typeface="Arial MT"/>
                <a:cs typeface="Arial MT"/>
              </a:rPr>
              <a:t> </a:t>
            </a:r>
            <a:r>
              <a:rPr sz="2550" spc="-335" dirty="0">
                <a:latin typeface="Arial MT"/>
                <a:cs typeface="Arial MT"/>
              </a:rPr>
              <a:t>a </a:t>
            </a:r>
            <a:r>
              <a:rPr sz="2550" spc="-60" dirty="0">
                <a:latin typeface="Arial MT"/>
                <a:cs typeface="Arial MT"/>
              </a:rPr>
              <a:t>proportional,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80" dirty="0">
                <a:latin typeface="Arial MT"/>
                <a:cs typeface="Arial MT"/>
              </a:rPr>
              <a:t>economic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sz="2550" spc="-80" dirty="0">
                <a:latin typeface="Arial MT"/>
                <a:cs typeface="Arial MT"/>
              </a:rPr>
              <a:t>claim</a:t>
            </a:r>
            <a:r>
              <a:rPr sz="2550" spc="-10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on </a:t>
            </a:r>
            <a:r>
              <a:rPr sz="2550" spc="-20" dirty="0">
                <a:latin typeface="Arial MT"/>
                <a:cs typeface="Arial MT"/>
              </a:rPr>
              <a:t>the</a:t>
            </a:r>
            <a:r>
              <a:rPr sz="2550" spc="-160" dirty="0">
                <a:latin typeface="Arial MT"/>
                <a:cs typeface="Arial MT"/>
              </a:rPr>
              <a:t> </a:t>
            </a:r>
            <a:r>
              <a:rPr sz="2550" spc="-60" dirty="0">
                <a:latin typeface="Arial MT"/>
                <a:cs typeface="Arial MT"/>
              </a:rPr>
              <a:t>underlying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spc="-100" dirty="0">
                <a:latin typeface="Arial MT"/>
                <a:cs typeface="Arial MT"/>
              </a:rPr>
              <a:t>asset‘s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yield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and </a:t>
            </a:r>
            <a:r>
              <a:rPr sz="2550" spc="-10" dirty="0">
                <a:latin typeface="Arial MT"/>
                <a:cs typeface="Arial MT"/>
              </a:rPr>
              <a:t>appreciation.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15381" y="7706430"/>
            <a:ext cx="4314825" cy="1483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-635">
              <a:lnSpc>
                <a:spcPts val="2800"/>
              </a:lnSpc>
              <a:spcBef>
                <a:spcPts val="430"/>
              </a:spcBef>
            </a:pPr>
            <a:r>
              <a:rPr sz="2550" spc="-125" dirty="0">
                <a:latin typeface="Arial MT"/>
                <a:cs typeface="Arial MT"/>
              </a:rPr>
              <a:t>Minimum</a:t>
            </a:r>
            <a:r>
              <a:rPr sz="2550" spc="-65" dirty="0">
                <a:latin typeface="Arial MT"/>
                <a:cs typeface="Arial MT"/>
              </a:rPr>
              <a:t> investment</a:t>
            </a:r>
            <a:r>
              <a:rPr sz="2550" spc="50" dirty="0">
                <a:latin typeface="Arial MT"/>
                <a:cs typeface="Arial MT"/>
              </a:rPr>
              <a:t> </a:t>
            </a:r>
            <a:r>
              <a:rPr sz="2550" spc="-60" dirty="0">
                <a:latin typeface="Arial MT"/>
                <a:cs typeface="Arial MT"/>
              </a:rPr>
              <a:t>thresholds </a:t>
            </a:r>
            <a:r>
              <a:rPr sz="2550" spc="-25" dirty="0">
                <a:latin typeface="Arial MT"/>
                <a:cs typeface="Arial MT"/>
              </a:rPr>
              <a:t>drop</a:t>
            </a:r>
            <a:r>
              <a:rPr sz="2550" spc="-155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from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institutional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levels </a:t>
            </a:r>
            <a:r>
              <a:rPr sz="2550" spc="-55" dirty="0">
                <a:latin typeface="Arial MT"/>
                <a:cs typeface="Arial MT"/>
              </a:rPr>
              <a:t>($500k+)</a:t>
            </a:r>
            <a:r>
              <a:rPr sz="2550" spc="7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180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micro-</a:t>
            </a:r>
            <a:r>
              <a:rPr sz="2550" spc="-10" dirty="0">
                <a:latin typeface="Arial MT"/>
                <a:cs typeface="Arial MT"/>
              </a:rPr>
              <a:t>retail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levels ($50).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4" name="Ορθογώνιο 13">
            <a:extLst>
              <a:ext uri="{FF2B5EF4-FFF2-40B4-BE49-F238E27FC236}">
                <a16:creationId xmlns:a16="http://schemas.microsoft.com/office/drawing/2014/main" id="{28FBDFE3-4007-6F4E-505A-1E3992757B00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4610100"/>
            <a:ext cx="1219200" cy="965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1700" y="3175000"/>
            <a:ext cx="11620500" cy="3721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92400" y="4610100"/>
            <a:ext cx="1219200" cy="965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90" dirty="0"/>
              <a:t>Programmable</a:t>
            </a:r>
            <a:r>
              <a:rPr sz="4850" spc="15" dirty="0"/>
              <a:t> </a:t>
            </a:r>
            <a:r>
              <a:rPr sz="4850" spc="-55" dirty="0"/>
              <a:t>Compliance</a:t>
            </a:r>
            <a:r>
              <a:rPr sz="4850" spc="-140" dirty="0"/>
              <a:t> </a:t>
            </a:r>
            <a:r>
              <a:rPr sz="4850" dirty="0"/>
              <a:t>via</a:t>
            </a:r>
            <a:r>
              <a:rPr sz="4850" spc="-330" dirty="0"/>
              <a:t> </a:t>
            </a:r>
            <a:r>
              <a:rPr sz="4850" spc="-90" dirty="0"/>
              <a:t>Token-</a:t>
            </a:r>
            <a:r>
              <a:rPr sz="4850" spc="-20" dirty="0"/>
              <a:t>2022</a:t>
            </a:r>
            <a:endParaRPr sz="485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9390" y="1589616"/>
            <a:ext cx="12818110" cy="9906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0955" marR="5080" indent="-8890">
              <a:lnSpc>
                <a:spcPts val="3600"/>
              </a:lnSpc>
              <a:spcBef>
                <a:spcPts val="550"/>
              </a:spcBef>
            </a:pPr>
            <a:r>
              <a:rPr sz="3300" spc="-114" dirty="0">
                <a:latin typeface="Arial MT"/>
                <a:cs typeface="Arial MT"/>
              </a:rPr>
              <a:t>Legacy </a:t>
            </a:r>
            <a:r>
              <a:rPr sz="3300" spc="-100" dirty="0">
                <a:latin typeface="Arial MT"/>
                <a:cs typeface="Arial MT"/>
              </a:rPr>
              <a:t>tokens</a:t>
            </a:r>
            <a:r>
              <a:rPr sz="3300" spc="-130" dirty="0">
                <a:latin typeface="Arial MT"/>
                <a:cs typeface="Arial MT"/>
              </a:rPr>
              <a:t> </a:t>
            </a:r>
            <a:r>
              <a:rPr sz="3300" spc="-85" dirty="0">
                <a:latin typeface="Arial MT"/>
                <a:cs typeface="Arial MT"/>
              </a:rPr>
              <a:t>cannot</a:t>
            </a:r>
            <a:r>
              <a:rPr sz="3300" spc="-114" dirty="0">
                <a:latin typeface="Arial MT"/>
                <a:cs typeface="Arial MT"/>
              </a:rPr>
              <a:t> </a:t>
            </a:r>
            <a:r>
              <a:rPr sz="3300" spc="-130" dirty="0">
                <a:latin typeface="Arial MT"/>
                <a:cs typeface="Arial MT"/>
              </a:rPr>
              <a:t>handle</a:t>
            </a:r>
            <a:r>
              <a:rPr sz="3300" spc="-95" dirty="0">
                <a:latin typeface="Arial MT"/>
                <a:cs typeface="Arial MT"/>
              </a:rPr>
              <a:t> </a:t>
            </a:r>
            <a:r>
              <a:rPr sz="3300" spc="-50" dirty="0">
                <a:latin typeface="Arial MT"/>
                <a:cs typeface="Arial MT"/>
              </a:rPr>
              <a:t>institutional</a:t>
            </a:r>
            <a:r>
              <a:rPr sz="3300" spc="5" dirty="0">
                <a:latin typeface="Arial MT"/>
                <a:cs typeface="Arial MT"/>
              </a:rPr>
              <a:t> </a:t>
            </a:r>
            <a:r>
              <a:rPr sz="3300" spc="-120" dirty="0">
                <a:latin typeface="Arial MT"/>
                <a:cs typeface="Arial MT"/>
              </a:rPr>
              <a:t>compliance.</a:t>
            </a:r>
            <a:r>
              <a:rPr sz="3300" dirty="0">
                <a:latin typeface="Arial MT"/>
                <a:cs typeface="Arial MT"/>
              </a:rPr>
              <a:t> </a:t>
            </a:r>
            <a:r>
              <a:rPr sz="3300" spc="-375" dirty="0">
                <a:latin typeface="Arial MT"/>
                <a:cs typeface="Arial MT"/>
              </a:rPr>
              <a:t>We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spc="-55" dirty="0">
                <a:latin typeface="Arial MT"/>
                <a:cs typeface="Arial MT"/>
              </a:rPr>
              <a:t>utilize</a:t>
            </a:r>
            <a:r>
              <a:rPr sz="3300" spc="-155" dirty="0">
                <a:latin typeface="Arial MT"/>
                <a:cs typeface="Arial MT"/>
              </a:rPr>
              <a:t> </a:t>
            </a:r>
            <a:r>
              <a:rPr sz="3300" spc="-85" dirty="0">
                <a:latin typeface="Arial MT"/>
                <a:cs typeface="Arial MT"/>
              </a:rPr>
              <a:t>Solana's </a:t>
            </a:r>
            <a:r>
              <a:rPr sz="3300" spc="-150" dirty="0">
                <a:latin typeface="Arial MT"/>
                <a:cs typeface="Arial MT"/>
              </a:rPr>
              <a:t>Token-</a:t>
            </a:r>
            <a:r>
              <a:rPr sz="3300" spc="-75" dirty="0">
                <a:latin typeface="Arial MT"/>
                <a:cs typeface="Arial MT"/>
              </a:rPr>
              <a:t>2022</a:t>
            </a:r>
            <a:r>
              <a:rPr sz="3300" spc="-155" dirty="0">
                <a:latin typeface="Arial MT"/>
                <a:cs typeface="Arial MT"/>
              </a:rPr>
              <a:t> </a:t>
            </a:r>
            <a:r>
              <a:rPr sz="3300" spc="-95" dirty="0">
                <a:latin typeface="Arial MT"/>
                <a:cs typeface="Arial MT"/>
              </a:rPr>
              <a:t>extensions</a:t>
            </a:r>
            <a:r>
              <a:rPr sz="3300" spc="-12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to</a:t>
            </a:r>
            <a:r>
              <a:rPr sz="3300" spc="-229" dirty="0">
                <a:latin typeface="Arial MT"/>
                <a:cs typeface="Arial MT"/>
              </a:rPr>
              <a:t> </a:t>
            </a:r>
            <a:r>
              <a:rPr sz="3300" spc="-180" dirty="0">
                <a:latin typeface="Arial MT"/>
                <a:cs typeface="Arial MT"/>
              </a:rPr>
              <a:t>bake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spc="-70" dirty="0">
                <a:latin typeface="Arial MT"/>
                <a:cs typeface="Arial MT"/>
              </a:rPr>
              <a:t>regulatory</a:t>
            </a:r>
            <a:r>
              <a:rPr sz="3300" spc="60" dirty="0">
                <a:latin typeface="Arial MT"/>
                <a:cs typeface="Arial MT"/>
              </a:rPr>
              <a:t> </a:t>
            </a:r>
            <a:r>
              <a:rPr sz="3300" spc="-40" dirty="0">
                <a:latin typeface="Arial MT"/>
                <a:cs typeface="Arial MT"/>
              </a:rPr>
              <a:t>logic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spc="-50" dirty="0">
                <a:latin typeface="Arial MT"/>
                <a:cs typeface="Arial MT"/>
              </a:rPr>
              <a:t>directly</a:t>
            </a:r>
            <a:r>
              <a:rPr sz="3300" spc="-1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into</a:t>
            </a:r>
            <a:r>
              <a:rPr sz="3300" spc="-16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17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asset.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317" y="5674430"/>
            <a:ext cx="116776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Arial MT"/>
                <a:cs typeface="Arial MT"/>
              </a:rPr>
              <a:t>Wallet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A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4387" y="7189036"/>
            <a:ext cx="3578225" cy="193802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590"/>
              </a:spcBef>
            </a:pPr>
            <a:r>
              <a:rPr sz="2950" spc="-35" dirty="0">
                <a:latin typeface="Arial MT"/>
                <a:cs typeface="Arial MT"/>
              </a:rPr>
              <a:t>Transfer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Hooks</a:t>
            </a:r>
            <a:endParaRPr sz="2950">
              <a:latin typeface="Arial MT"/>
              <a:cs typeface="Arial MT"/>
            </a:endParaRPr>
          </a:p>
          <a:p>
            <a:pPr marL="33020">
              <a:lnSpc>
                <a:spcPts val="2715"/>
              </a:lnSpc>
              <a:spcBef>
                <a:spcPts val="409"/>
              </a:spcBef>
            </a:pPr>
            <a:r>
              <a:rPr sz="2400" spc="-105" dirty="0">
                <a:latin typeface="Arial MT"/>
                <a:cs typeface="Arial MT"/>
              </a:rPr>
              <a:t>Automatically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checks</a:t>
            </a:r>
            <a:endParaRPr sz="2400">
              <a:latin typeface="Arial MT"/>
              <a:cs typeface="Arial MT"/>
            </a:endParaRPr>
          </a:p>
          <a:p>
            <a:pPr marL="22225">
              <a:lnSpc>
                <a:spcPts val="2575"/>
              </a:lnSpc>
            </a:pPr>
            <a:r>
              <a:rPr sz="2400" spc="-75" dirty="0">
                <a:latin typeface="Arial MT"/>
                <a:cs typeface="Arial MT"/>
              </a:rPr>
              <a:t>off-</a:t>
            </a:r>
            <a:r>
              <a:rPr sz="2400" spc="-55" dirty="0">
                <a:latin typeface="Arial MT"/>
                <a:cs typeface="Arial MT"/>
              </a:rPr>
              <a:t>chain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KYC/AML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registries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470"/>
              </a:lnSpc>
            </a:pPr>
            <a:r>
              <a:rPr sz="2350" spc="-35" dirty="0">
                <a:latin typeface="Arial MT"/>
                <a:cs typeface="Arial MT"/>
              </a:rPr>
              <a:t>in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80" dirty="0">
                <a:latin typeface="Arial MT"/>
                <a:cs typeface="Arial MT"/>
              </a:rPr>
              <a:t>real-</a:t>
            </a:r>
            <a:r>
              <a:rPr sz="2350" spc="-25" dirty="0">
                <a:latin typeface="Arial MT"/>
                <a:cs typeface="Arial MT"/>
              </a:rPr>
              <a:t>time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90" dirty="0">
                <a:latin typeface="Arial MT"/>
                <a:cs typeface="Arial MT"/>
              </a:rPr>
              <a:t>before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allowing</a:t>
            </a:r>
            <a:endParaRPr sz="2350">
              <a:latin typeface="Arial MT"/>
              <a:cs typeface="Arial MT"/>
            </a:endParaRPr>
          </a:p>
          <a:p>
            <a:pPr marL="20320">
              <a:lnSpc>
                <a:spcPts val="2850"/>
              </a:lnSpc>
            </a:pPr>
            <a:r>
              <a:rPr sz="2550" spc="-409" dirty="0">
                <a:latin typeface="Arial MT"/>
                <a:cs typeface="Arial MT"/>
              </a:rPr>
              <a:t>a</a:t>
            </a:r>
            <a:r>
              <a:rPr sz="2550" spc="20" dirty="0">
                <a:latin typeface="Arial MT"/>
                <a:cs typeface="Arial MT"/>
              </a:rPr>
              <a:t> </a:t>
            </a:r>
            <a:r>
              <a:rPr sz="2550" spc="-75" dirty="0">
                <a:latin typeface="Arial MT"/>
                <a:cs typeface="Arial MT"/>
              </a:rPr>
              <a:t>transfer.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7730" y="7156263"/>
            <a:ext cx="4656455" cy="19691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400" spc="-125" dirty="0">
                <a:latin typeface="Calibri"/>
                <a:cs typeface="Calibri"/>
              </a:rPr>
              <a:t>Default</a:t>
            </a:r>
            <a:r>
              <a:rPr sz="3400" spc="-55" dirty="0">
                <a:latin typeface="Calibri"/>
                <a:cs typeface="Calibri"/>
              </a:rPr>
              <a:t> </a:t>
            </a:r>
            <a:r>
              <a:rPr sz="3400" spc="-75" dirty="0">
                <a:latin typeface="Calibri"/>
                <a:cs typeface="Calibri"/>
              </a:rPr>
              <a:t>Account</a:t>
            </a:r>
            <a:r>
              <a:rPr sz="3400" spc="-6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State</a:t>
            </a:r>
            <a:endParaRPr sz="3400">
              <a:latin typeface="Calibri"/>
              <a:cs typeface="Calibri"/>
            </a:endParaRPr>
          </a:p>
          <a:p>
            <a:pPr marL="12700" marR="5080" indent="11430">
              <a:lnSpc>
                <a:spcPct val="89700"/>
              </a:lnSpc>
              <a:spcBef>
                <a:spcPts val="530"/>
              </a:spcBef>
            </a:pPr>
            <a:r>
              <a:rPr sz="2500" spc="-165" dirty="0">
                <a:latin typeface="Arial MT"/>
                <a:cs typeface="Arial MT"/>
              </a:rPr>
              <a:t>All</a:t>
            </a:r>
            <a:r>
              <a:rPr sz="2500" spc="-150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new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160" dirty="0">
                <a:latin typeface="Arial MT"/>
                <a:cs typeface="Arial MT"/>
              </a:rPr>
              <a:t>token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accounts</a:t>
            </a:r>
            <a:r>
              <a:rPr sz="2500" spc="30" dirty="0">
                <a:latin typeface="Arial MT"/>
                <a:cs typeface="Arial MT"/>
              </a:rPr>
              <a:t> </a:t>
            </a:r>
            <a:r>
              <a:rPr sz="2500" spc="-215" dirty="0">
                <a:latin typeface="Arial MT"/>
                <a:cs typeface="Arial MT"/>
              </a:rPr>
              <a:t>are</a:t>
            </a:r>
            <a:r>
              <a:rPr sz="2500" spc="-150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initialized </a:t>
            </a:r>
            <a:r>
              <a:rPr sz="2350" spc="-145" dirty="0">
                <a:latin typeface="Arial MT"/>
                <a:cs typeface="Arial MT"/>
              </a:rPr>
              <a:t>as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spc="-150" dirty="0">
                <a:latin typeface="Arial MT"/>
                <a:cs typeface="Arial MT"/>
              </a:rPr>
              <a:t>Frozen</a:t>
            </a:r>
            <a:r>
              <a:rPr sz="2350" spc="-10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until</a:t>
            </a:r>
            <a:r>
              <a:rPr sz="2350" spc="-130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the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spc="-70" dirty="0">
                <a:latin typeface="Arial MT"/>
                <a:cs typeface="Arial MT"/>
              </a:rPr>
              <a:t>user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submits </a:t>
            </a:r>
            <a:r>
              <a:rPr sz="2300" spc="-65" dirty="0">
                <a:latin typeface="Arial MT"/>
                <a:cs typeface="Arial MT"/>
              </a:rPr>
              <a:t>compliance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data,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at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which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point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the </a:t>
            </a:r>
            <a:r>
              <a:rPr sz="2500" spc="-190" dirty="0">
                <a:latin typeface="Arial MT"/>
                <a:cs typeface="Arial MT"/>
              </a:rPr>
              <a:t>backend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executes</a:t>
            </a:r>
            <a:r>
              <a:rPr sz="2500" spc="15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a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Thaw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114" dirty="0">
                <a:latin typeface="Arial MT"/>
                <a:cs typeface="Arial MT"/>
              </a:rPr>
              <a:t>instruction.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13925" y="5683250"/>
            <a:ext cx="11703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0" dirty="0">
                <a:latin typeface="Arial MT"/>
                <a:cs typeface="Arial MT"/>
              </a:rPr>
              <a:t>Wallet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B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38019" y="7197090"/>
            <a:ext cx="4015740" cy="192658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900" spc="-20" dirty="0">
                <a:latin typeface="Arial MT"/>
                <a:cs typeface="Arial MT"/>
              </a:rPr>
              <a:t>Permanent </a:t>
            </a:r>
            <a:r>
              <a:rPr sz="2900" spc="-10" dirty="0">
                <a:latin typeface="Arial MT"/>
                <a:cs typeface="Arial MT"/>
              </a:rPr>
              <a:t>Delegate</a:t>
            </a:r>
            <a:endParaRPr sz="2900">
              <a:latin typeface="Arial MT"/>
              <a:cs typeface="Arial MT"/>
            </a:endParaRPr>
          </a:p>
          <a:p>
            <a:pPr marL="17145" marR="5080" indent="10795">
              <a:lnSpc>
                <a:spcPct val="91000"/>
              </a:lnSpc>
              <a:spcBef>
                <a:spcPts val="680"/>
              </a:spcBef>
            </a:pPr>
            <a:r>
              <a:rPr sz="2400" spc="-229" dirty="0">
                <a:latin typeface="Arial MT"/>
                <a:cs typeface="Arial MT"/>
              </a:rPr>
              <a:t>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administrative</a:t>
            </a:r>
            <a:r>
              <a:rPr sz="2400" spc="-130" dirty="0">
                <a:latin typeface="Arial MT"/>
                <a:cs typeface="Arial MT"/>
              </a:rPr>
              <a:t> override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key </a:t>
            </a:r>
            <a:r>
              <a:rPr sz="2350" spc="-75" dirty="0">
                <a:latin typeface="Arial MT"/>
                <a:cs typeface="Arial MT"/>
              </a:rPr>
              <a:t>allowing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the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protocol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recover </a:t>
            </a:r>
            <a:r>
              <a:rPr sz="2300" spc="-75" dirty="0">
                <a:latin typeface="Arial MT"/>
                <a:cs typeface="Arial MT"/>
              </a:rPr>
              <a:t>assets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the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event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legal </a:t>
            </a:r>
            <a:r>
              <a:rPr sz="2300" spc="-10" dirty="0">
                <a:latin typeface="Arial MT"/>
                <a:cs typeface="Arial MT"/>
              </a:rPr>
              <a:t>court </a:t>
            </a:r>
            <a:r>
              <a:rPr sz="2400" spc="-110" dirty="0">
                <a:latin typeface="Arial MT"/>
                <a:cs typeface="Arial MT"/>
              </a:rPr>
              <a:t>orders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35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lost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private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keys.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Ορθογώνιο 12">
            <a:extLst>
              <a:ext uri="{FF2B5EF4-FFF2-40B4-BE49-F238E27FC236}">
                <a16:creationId xmlns:a16="http://schemas.microsoft.com/office/drawing/2014/main" id="{20DEAF5E-8E1A-6AF2-A885-7DE0B4492152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2527" y="4473447"/>
            <a:ext cx="351155" cy="12484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35"/>
              </a:lnSpc>
            </a:pPr>
            <a:r>
              <a:rPr sz="2300" dirty="0">
                <a:latin typeface="Arial MT"/>
                <a:cs typeface="Arial MT"/>
              </a:rPr>
              <a:t>ity</a:t>
            </a:r>
            <a:r>
              <a:rPr sz="2300" spc="18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Conce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5800" y="3632200"/>
            <a:ext cx="12700" cy="279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00" y="5080000"/>
            <a:ext cx="4381500" cy="1295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5"/>
              </a:spcBef>
            </a:pPr>
            <a:r>
              <a:rPr sz="5200" spc="-170" dirty="0"/>
              <a:t>The</a:t>
            </a:r>
            <a:r>
              <a:rPr sz="5200" spc="-195" dirty="0"/>
              <a:t> </a:t>
            </a:r>
            <a:r>
              <a:rPr sz="5200" spc="-10" dirty="0"/>
              <a:t>Liquidity</a:t>
            </a:r>
            <a:r>
              <a:rPr sz="5200" spc="-350" dirty="0"/>
              <a:t> </a:t>
            </a:r>
            <a:r>
              <a:rPr sz="5200" spc="-170" dirty="0"/>
              <a:t>Engine:</a:t>
            </a:r>
            <a:r>
              <a:rPr sz="5200" spc="-195" dirty="0"/>
              <a:t> </a:t>
            </a:r>
            <a:r>
              <a:rPr sz="5200" spc="-280" dirty="0"/>
              <a:t>Why</a:t>
            </a:r>
            <a:r>
              <a:rPr sz="5200" spc="-80" dirty="0"/>
              <a:t> </a:t>
            </a:r>
            <a:r>
              <a:rPr sz="5200" spc="-60" dirty="0"/>
              <a:t>Meteora</a:t>
            </a:r>
            <a:r>
              <a:rPr sz="5200" spc="-50" dirty="0"/>
              <a:t> </a:t>
            </a:r>
            <a:r>
              <a:rPr sz="5200" spc="-345" dirty="0"/>
              <a:t>DLMM?</a:t>
            </a:r>
            <a:endParaRPr sz="5200"/>
          </a:p>
        </p:txBody>
      </p:sp>
      <p:sp>
        <p:nvSpPr>
          <p:cNvPr id="6" name="object 6"/>
          <p:cNvSpPr txBox="1"/>
          <p:nvPr/>
        </p:nvSpPr>
        <p:spPr>
          <a:xfrm>
            <a:off x="772200" y="1649236"/>
            <a:ext cx="14316075" cy="9188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993755">
              <a:lnSpc>
                <a:spcPts val="3750"/>
              </a:lnSpc>
              <a:spcBef>
                <a:spcPts val="110"/>
              </a:spcBef>
            </a:pPr>
            <a:r>
              <a:rPr sz="3250" spc="-55" dirty="0">
                <a:latin typeface="Arial MT"/>
                <a:cs typeface="Arial MT"/>
              </a:rPr>
              <a:t>Discrète</a:t>
            </a:r>
            <a:r>
              <a:rPr sz="3250" spc="-150" dirty="0">
                <a:latin typeface="Arial MT"/>
                <a:cs typeface="Arial MT"/>
              </a:rPr>
              <a:t> </a:t>
            </a:r>
            <a:r>
              <a:rPr sz="3250" spc="-60" dirty="0">
                <a:latin typeface="Arial MT"/>
                <a:cs typeface="Arial MT"/>
              </a:rPr>
              <a:t>Price</a:t>
            </a:r>
            <a:r>
              <a:rPr sz="3250" spc="-165" dirty="0">
                <a:latin typeface="Arial MT"/>
                <a:cs typeface="Arial MT"/>
              </a:rPr>
              <a:t> </a:t>
            </a:r>
            <a:r>
              <a:rPr sz="3250" spc="-85" dirty="0">
                <a:latin typeface="Arial MT"/>
                <a:cs typeface="Arial MT"/>
              </a:rPr>
              <a:t>Bins</a:t>
            </a:r>
            <a:endParaRPr sz="3250">
              <a:latin typeface="Arial MT"/>
              <a:cs typeface="Arial MT"/>
            </a:endParaRPr>
          </a:p>
          <a:p>
            <a:pPr marL="12700">
              <a:lnSpc>
                <a:spcPts val="3270"/>
              </a:lnSpc>
              <a:tabLst>
                <a:tab pos="2622550" algn="l"/>
                <a:tab pos="5436235" algn="l"/>
              </a:tabLst>
            </a:pPr>
            <a:r>
              <a:rPr sz="2850" spc="-10" dirty="0">
                <a:latin typeface="Arial MT"/>
                <a:cs typeface="Arial MT"/>
              </a:rPr>
              <a:t>Dimension</a:t>
            </a:r>
            <a:r>
              <a:rPr sz="2850" dirty="0">
                <a:latin typeface="Arial MT"/>
                <a:cs typeface="Arial MT"/>
              </a:rPr>
              <a:t>	</a:t>
            </a:r>
            <a:r>
              <a:rPr sz="2850" spc="-100" dirty="0">
                <a:latin typeface="Arial MT"/>
                <a:cs typeface="Arial MT"/>
              </a:rPr>
              <a:t>Traditional</a:t>
            </a:r>
            <a:r>
              <a:rPr sz="2850" dirty="0">
                <a:latin typeface="Arial MT"/>
                <a:cs typeface="Arial MT"/>
              </a:rPr>
              <a:t> </a:t>
            </a:r>
            <a:r>
              <a:rPr sz="2850" spc="-25" dirty="0">
                <a:latin typeface="Arial MT"/>
                <a:cs typeface="Arial MT"/>
              </a:rPr>
              <a:t>AMM</a:t>
            </a:r>
            <a:r>
              <a:rPr sz="2850" dirty="0">
                <a:latin typeface="Arial MT"/>
                <a:cs typeface="Arial MT"/>
              </a:rPr>
              <a:t>	</a:t>
            </a:r>
            <a:r>
              <a:rPr sz="2850" spc="-70" dirty="0">
                <a:latin typeface="Arial MT"/>
                <a:cs typeface="Arial MT"/>
              </a:rPr>
              <a:t>Meteora</a:t>
            </a:r>
            <a:r>
              <a:rPr sz="2850" spc="-9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DLMM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259" y="3323872"/>
            <a:ext cx="221742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50" dirty="0">
                <a:latin typeface="Arial MT"/>
                <a:cs typeface="Arial MT"/>
              </a:rPr>
              <a:t>Liquidity</a:t>
            </a:r>
            <a:r>
              <a:rPr sz="2750" spc="-105" dirty="0">
                <a:latin typeface="Arial MT"/>
                <a:cs typeface="Arial MT"/>
              </a:rPr>
              <a:t> </a:t>
            </a:r>
            <a:r>
              <a:rPr sz="2750" spc="-100" dirty="0">
                <a:latin typeface="Arial MT"/>
                <a:cs typeface="Arial MT"/>
              </a:rPr>
              <a:t>Model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4660" y="3133372"/>
            <a:ext cx="2378710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150"/>
              </a:lnSpc>
              <a:spcBef>
                <a:spcPts val="125"/>
              </a:spcBef>
            </a:pPr>
            <a:r>
              <a:rPr sz="2750" spc="-110" dirty="0">
                <a:latin typeface="Arial MT"/>
                <a:cs typeface="Arial MT"/>
              </a:rPr>
              <a:t>Full-</a:t>
            </a:r>
            <a:r>
              <a:rPr sz="2750" spc="-70" dirty="0">
                <a:latin typeface="Arial MT"/>
                <a:cs typeface="Arial MT"/>
              </a:rPr>
              <a:t>range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600" spc="-270" dirty="0">
                <a:latin typeface="Arial MT"/>
                <a:cs typeface="Arial MT"/>
              </a:rPr>
              <a:t>StZItÏC</a:t>
            </a:r>
            <a:endParaRPr sz="2600">
              <a:latin typeface="Arial MT"/>
              <a:cs typeface="Arial MT"/>
            </a:endParaRPr>
          </a:p>
          <a:p>
            <a:pPr marL="23495">
              <a:lnSpc>
                <a:spcPts val="3150"/>
              </a:lnSpc>
            </a:pPr>
            <a:r>
              <a:rPr sz="2750" spc="-10" dirty="0">
                <a:latin typeface="Arial MT"/>
                <a:cs typeface="Arial MT"/>
              </a:rPr>
              <a:t>Curve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7141" y="3341511"/>
            <a:ext cx="270319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5" dirty="0">
                <a:latin typeface="Arial MT"/>
                <a:cs typeface="Arial MT"/>
              </a:rPr>
              <a:t>Discrète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30" dirty="0">
                <a:latin typeface="Arial MT"/>
                <a:cs typeface="Arial MT"/>
              </a:rPr>
              <a:t>Price</a:t>
            </a:r>
            <a:r>
              <a:rPr sz="2600" spc="-15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Bins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884" y="4583641"/>
            <a:ext cx="195961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80" dirty="0">
                <a:latin typeface="Arial MT"/>
                <a:cs typeface="Arial MT"/>
              </a:rPr>
              <a:t>Fee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Structure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5384" y="4583641"/>
            <a:ext cx="176783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0" dirty="0">
                <a:latin typeface="Arial MT"/>
                <a:cs typeface="Arial MT"/>
              </a:rPr>
              <a:t>Fixed</a:t>
            </a:r>
            <a:r>
              <a:rPr sz="2700" spc="-85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0.25%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9401" y="5814483"/>
            <a:ext cx="1403985" cy="8547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765">
              <a:lnSpc>
                <a:spcPts val="3165"/>
              </a:lnSpc>
              <a:spcBef>
                <a:spcPts val="114"/>
              </a:spcBef>
            </a:pPr>
            <a:r>
              <a:rPr sz="2900" spc="-65" dirty="0">
                <a:latin typeface="Arial MT"/>
                <a:cs typeface="Arial MT"/>
              </a:rPr>
              <a:t>Capital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ts val="3345"/>
              </a:lnSpc>
            </a:pPr>
            <a:r>
              <a:rPr sz="3050" spc="-225" dirty="0">
                <a:latin typeface="Arial MT"/>
                <a:cs typeface="Arial MT"/>
              </a:rPr>
              <a:t>Efficiency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76467" y="5814483"/>
            <a:ext cx="2365375" cy="8547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165"/>
              </a:lnSpc>
              <a:spcBef>
                <a:spcPts val="114"/>
              </a:spcBef>
            </a:pPr>
            <a:r>
              <a:rPr sz="2900" spc="-225" dirty="0">
                <a:latin typeface="Arial MT"/>
                <a:cs typeface="Arial MT"/>
              </a:rPr>
              <a:t>Low;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capital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sits</a:t>
            </a:r>
            <a:endParaRPr sz="2900">
              <a:latin typeface="Arial MT"/>
              <a:cs typeface="Arial MT"/>
            </a:endParaRPr>
          </a:p>
          <a:p>
            <a:pPr marL="13970">
              <a:lnSpc>
                <a:spcPts val="3345"/>
              </a:lnSpc>
            </a:pPr>
            <a:r>
              <a:rPr sz="3050" spc="-200" dirty="0">
                <a:latin typeface="Arial MT"/>
                <a:cs typeface="Arial MT"/>
              </a:rPr>
              <a:t>idle</a:t>
            </a:r>
            <a:r>
              <a:rPr sz="3050" spc="-135" dirty="0">
                <a:latin typeface="Arial MT"/>
                <a:cs typeface="Arial MT"/>
              </a:rPr>
              <a:t> </a:t>
            </a:r>
            <a:r>
              <a:rPr sz="3050" spc="-229" dirty="0">
                <a:latin typeface="Arial MT"/>
                <a:cs typeface="Arial MT"/>
              </a:rPr>
              <a:t>out</a:t>
            </a:r>
            <a:r>
              <a:rPr sz="3050" spc="-40" dirty="0">
                <a:latin typeface="Arial MT"/>
                <a:cs typeface="Arial MT"/>
              </a:rPr>
              <a:t> </a:t>
            </a:r>
            <a:r>
              <a:rPr sz="3050" spc="-225" dirty="0">
                <a:latin typeface="Arial MT"/>
                <a:cs typeface="Arial MT"/>
              </a:rPr>
              <a:t>of</a:t>
            </a:r>
            <a:r>
              <a:rPr sz="3050" spc="-75" dirty="0">
                <a:latin typeface="Arial MT"/>
                <a:cs typeface="Arial MT"/>
              </a:rPr>
              <a:t> </a:t>
            </a:r>
            <a:r>
              <a:rPr sz="3050" spc="-300" dirty="0">
                <a:latin typeface="Arial MT"/>
                <a:cs typeface="Arial MT"/>
              </a:rPr>
              <a:t>range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4419" y="4373033"/>
            <a:ext cx="2907030" cy="8509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510" marR="5080" indent="-4445">
              <a:lnSpc>
                <a:spcPts val="3000"/>
              </a:lnSpc>
              <a:spcBef>
                <a:spcPts val="615"/>
              </a:spcBef>
            </a:pPr>
            <a:r>
              <a:rPr sz="2900" spc="-235" dirty="0">
                <a:latin typeface="Arial MT"/>
                <a:cs typeface="Arial MT"/>
              </a:rPr>
              <a:t>Dynamic</a:t>
            </a:r>
            <a:r>
              <a:rPr sz="2900" spc="65" dirty="0">
                <a:latin typeface="Arial MT"/>
                <a:cs typeface="Arial MT"/>
              </a:rPr>
              <a:t> </a:t>
            </a:r>
            <a:r>
              <a:rPr sz="2900" spc="-525" dirty="0">
                <a:latin typeface="Arial MT"/>
                <a:cs typeface="Arial MT"/>
              </a:rPr>
              <a:t>(0.01%—</a:t>
            </a:r>
            <a:r>
              <a:rPr sz="2900" spc="-545" dirty="0">
                <a:latin typeface="Arial MT"/>
                <a:cs typeface="Arial MT"/>
              </a:rPr>
              <a:t>1%) </a:t>
            </a:r>
            <a:r>
              <a:rPr sz="2900" spc="-250" dirty="0">
                <a:latin typeface="Arial MT"/>
                <a:cs typeface="Arial MT"/>
              </a:rPr>
              <a:t>based</a:t>
            </a:r>
            <a:r>
              <a:rPr sz="2900" spc="60" dirty="0">
                <a:latin typeface="Arial MT"/>
                <a:cs typeface="Arial MT"/>
              </a:rPr>
              <a:t> </a:t>
            </a:r>
            <a:r>
              <a:rPr sz="2900" spc="-229" dirty="0">
                <a:latin typeface="Arial MT"/>
                <a:cs typeface="Arial MT"/>
              </a:rPr>
              <a:t>on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volatility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5268" y="5647972"/>
            <a:ext cx="2921635" cy="119824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604" marR="5080" indent="-2540">
              <a:lnSpc>
                <a:spcPts val="2950"/>
              </a:lnSpc>
              <a:spcBef>
                <a:spcPts val="515"/>
              </a:spcBef>
            </a:pPr>
            <a:r>
              <a:rPr sz="2750" spc="-80" dirty="0">
                <a:latin typeface="Arial MT"/>
                <a:cs typeface="Arial MT"/>
              </a:rPr>
              <a:t>Ultra-</a:t>
            </a:r>
            <a:r>
              <a:rPr sz="2750" spc="-55" dirty="0">
                <a:latin typeface="Arial MT"/>
                <a:cs typeface="Arial MT"/>
              </a:rPr>
              <a:t>High;</a:t>
            </a:r>
            <a:r>
              <a:rPr sz="2750" spc="-65" dirty="0">
                <a:latin typeface="Arial MT"/>
                <a:cs typeface="Arial MT"/>
              </a:rPr>
              <a:t> </a:t>
            </a:r>
            <a:r>
              <a:rPr sz="2750" spc="-110" dirty="0">
                <a:latin typeface="Arial MT"/>
                <a:cs typeface="Arial MT"/>
              </a:rPr>
              <a:t>captures </a:t>
            </a:r>
            <a:r>
              <a:rPr sz="2750" spc="-125" dirty="0">
                <a:latin typeface="Arial MT"/>
                <a:cs typeface="Arial MT"/>
              </a:rPr>
              <a:t>volume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surges effectively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690" y="7304616"/>
            <a:ext cx="8664575" cy="18891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8255">
              <a:lnSpc>
                <a:spcPts val="3600"/>
              </a:lnSpc>
              <a:spcBef>
                <a:spcPts val="550"/>
              </a:spcBef>
            </a:pPr>
            <a:r>
              <a:rPr sz="3300" spc="-155" dirty="0">
                <a:latin typeface="Arial MT"/>
                <a:cs typeface="Arial MT"/>
              </a:rPr>
              <a:t>Takeaway: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spc="-50" dirty="0">
                <a:latin typeface="Arial MT"/>
                <a:cs typeface="Arial MT"/>
              </a:rPr>
              <a:t>Meteora's</a:t>
            </a:r>
            <a:r>
              <a:rPr sz="3300" spc="-18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dynamic</a:t>
            </a:r>
            <a:r>
              <a:rPr sz="3300" spc="-65" dirty="0">
                <a:latin typeface="Arial MT"/>
                <a:cs typeface="Arial MT"/>
              </a:rPr>
              <a:t> </a:t>
            </a:r>
            <a:r>
              <a:rPr sz="3300" spc="-55" dirty="0">
                <a:latin typeface="Arial MT"/>
                <a:cs typeface="Arial MT"/>
              </a:rPr>
              <a:t>fees</a:t>
            </a:r>
            <a:r>
              <a:rPr sz="3300" spc="-229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compensate </a:t>
            </a:r>
            <a:r>
              <a:rPr sz="3300" dirty="0">
                <a:latin typeface="Arial MT"/>
                <a:cs typeface="Arial MT"/>
              </a:rPr>
              <a:t>Liquidity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spc="-30" dirty="0">
                <a:latin typeface="Arial MT"/>
                <a:cs typeface="Arial MT"/>
              </a:rPr>
              <a:t>Providers</a:t>
            </a:r>
            <a:r>
              <a:rPr sz="3300" spc="1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during</a:t>
            </a:r>
            <a:r>
              <a:rPr sz="3300" spc="-145" dirty="0">
                <a:latin typeface="Arial MT"/>
                <a:cs typeface="Arial MT"/>
              </a:rPr>
              <a:t> </a:t>
            </a:r>
            <a:r>
              <a:rPr sz="3300" spc="55" dirty="0">
                <a:latin typeface="Arial MT"/>
                <a:cs typeface="Arial MT"/>
              </a:rPr>
              <a:t>high-</a:t>
            </a:r>
            <a:r>
              <a:rPr sz="3300" spc="-10" dirty="0">
                <a:latin typeface="Arial MT"/>
                <a:cs typeface="Arial MT"/>
              </a:rPr>
              <a:t>volatility</a:t>
            </a:r>
            <a:endParaRPr sz="3300">
              <a:latin typeface="Arial MT"/>
              <a:cs typeface="Arial MT"/>
            </a:endParaRPr>
          </a:p>
          <a:p>
            <a:pPr marL="15875">
              <a:lnSpc>
                <a:spcPts val="3329"/>
              </a:lnSpc>
            </a:pPr>
            <a:r>
              <a:rPr sz="3250" dirty="0">
                <a:latin typeface="Arial MT"/>
                <a:cs typeface="Arial MT"/>
              </a:rPr>
              <a:t>price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discovery</a:t>
            </a:r>
            <a:r>
              <a:rPr sz="3250" spc="-30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events,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30" dirty="0">
                <a:latin typeface="Arial MT"/>
                <a:cs typeface="Arial MT"/>
              </a:rPr>
              <a:t>making</a:t>
            </a:r>
            <a:r>
              <a:rPr sz="3250" spc="10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it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55" dirty="0">
                <a:latin typeface="Arial MT"/>
                <a:cs typeface="Arial MT"/>
              </a:rPr>
              <a:t>the</a:t>
            </a:r>
            <a:r>
              <a:rPr sz="3250" spc="-175" dirty="0">
                <a:latin typeface="Arial MT"/>
                <a:cs typeface="Arial MT"/>
              </a:rPr>
              <a:t> </a:t>
            </a:r>
            <a:r>
              <a:rPr sz="3250" spc="-10" dirty="0">
                <a:latin typeface="Arial MT"/>
                <a:cs typeface="Arial MT"/>
              </a:rPr>
              <a:t>perfect</a:t>
            </a:r>
            <a:endParaRPr sz="3250">
              <a:latin typeface="Arial MT"/>
              <a:cs typeface="Arial MT"/>
            </a:endParaRPr>
          </a:p>
          <a:p>
            <a:pPr marL="15875">
              <a:lnSpc>
                <a:spcPts val="3690"/>
              </a:lnSpc>
            </a:pPr>
            <a:r>
              <a:rPr sz="3200" dirty="0">
                <a:latin typeface="Arial MT"/>
                <a:cs typeface="Arial MT"/>
              </a:rPr>
              <a:t>engine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95" dirty="0">
                <a:latin typeface="Arial MT"/>
                <a:cs typeface="Arial MT"/>
              </a:rPr>
              <a:t>for</a:t>
            </a:r>
            <a:r>
              <a:rPr sz="3200" spc="-114" dirty="0">
                <a:latin typeface="Arial MT"/>
                <a:cs typeface="Arial MT"/>
              </a:rPr>
              <a:t> </a:t>
            </a:r>
            <a:r>
              <a:rPr sz="3200" spc="-280" dirty="0">
                <a:latin typeface="Arial MT"/>
                <a:cs typeface="Arial MT"/>
              </a:rPr>
              <a:t>RWA</a:t>
            </a:r>
            <a:r>
              <a:rPr sz="3200" spc="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tokens.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16573" y="7304616"/>
            <a:ext cx="3048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300" spc="-919" dirty="0">
                <a:solidFill>
                  <a:srgbClr val="83977E"/>
                </a:solidFill>
                <a:latin typeface="Arial MT"/>
                <a:cs typeface="Arial MT"/>
              </a:rPr>
              <a:t>!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750580" y="4731808"/>
            <a:ext cx="208788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25" dirty="0">
                <a:latin typeface="Arial MT"/>
                <a:cs typeface="Arial MT"/>
              </a:rPr>
              <a:t>Traditional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AMM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19366" y="7409391"/>
            <a:ext cx="1699895" cy="84455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92075" marR="5080" indent="-80010">
              <a:lnSpc>
                <a:spcPts val="3200"/>
              </a:lnSpc>
              <a:spcBef>
                <a:spcPts val="245"/>
              </a:spcBef>
            </a:pPr>
            <a:r>
              <a:rPr sz="2700" spc="-229" dirty="0">
                <a:latin typeface="Arial MT"/>
                <a:cs typeface="Arial MT"/>
              </a:rPr>
              <a:t>Current</a:t>
            </a:r>
            <a:r>
              <a:rPr sz="2700" spc="-60" dirty="0">
                <a:latin typeface="Arial MT"/>
                <a:cs typeface="Arial MT"/>
              </a:rPr>
              <a:t> </a:t>
            </a:r>
            <a:r>
              <a:rPr sz="2700" spc="-225" dirty="0">
                <a:latin typeface="Arial MT"/>
                <a:cs typeface="Arial MT"/>
              </a:rPr>
              <a:t>Price </a:t>
            </a:r>
            <a:r>
              <a:rPr sz="2700" spc="-250" dirty="0">
                <a:latin typeface="Arial MT"/>
                <a:cs typeface="Arial MT"/>
              </a:rPr>
              <a:t>Price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365" dirty="0">
                <a:latin typeface="Arial MT"/>
                <a:cs typeface="Arial MT"/>
              </a:rPr>
              <a:t>Range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74085" y="7409391"/>
            <a:ext cx="1257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30" dirty="0">
                <a:solidFill>
                  <a:srgbClr val="879382"/>
                </a:solidFill>
                <a:latin typeface="Arial MT"/>
                <a:cs typeface="Arial MT"/>
              </a:rPr>
              <a:t>"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116224" y="9439980"/>
            <a:ext cx="122364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50" dirty="0">
                <a:latin typeface="Arial MT"/>
                <a:cs typeface="Arial MT"/>
              </a:rPr>
              <a:t>Æ\</a:t>
            </a:r>
            <a:r>
              <a:rPr sz="1300" spc="6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Nc•tebookLM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Ορθογώνιο 21">
            <a:extLst>
              <a:ext uri="{FF2B5EF4-FFF2-40B4-BE49-F238E27FC236}">
                <a16:creationId xmlns:a16="http://schemas.microsoft.com/office/drawing/2014/main" id="{AF434D5B-9886-9831-8A38-7A749961703D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2984500"/>
            <a:ext cx="11709400" cy="5575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7036" y="741186"/>
            <a:ext cx="9542145" cy="169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525"/>
              </a:lnSpc>
              <a:spcBef>
                <a:spcPts val="110"/>
              </a:spcBef>
            </a:pPr>
            <a:r>
              <a:rPr sz="5750" dirty="0">
                <a:solidFill>
                  <a:srgbClr val="0E0E0E"/>
                </a:solidFill>
              </a:rPr>
              <a:t>The</a:t>
            </a:r>
            <a:r>
              <a:rPr sz="5750" spc="-260" dirty="0">
                <a:solidFill>
                  <a:srgbClr val="0E0E0E"/>
                </a:solidFill>
              </a:rPr>
              <a:t> </a:t>
            </a:r>
            <a:r>
              <a:rPr sz="5750" dirty="0"/>
              <a:t>Front-</a:t>
            </a:r>
            <a:r>
              <a:rPr sz="5750" spc="-20" dirty="0"/>
              <a:t>End:</a:t>
            </a:r>
            <a:endParaRPr sz="5750"/>
          </a:p>
          <a:p>
            <a:pPr marL="12700">
              <a:lnSpc>
                <a:spcPts val="6584"/>
              </a:lnSpc>
            </a:pPr>
            <a:r>
              <a:rPr sz="5800" spc="-10" dirty="0"/>
              <a:t>Trading</a:t>
            </a:r>
            <a:r>
              <a:rPr sz="5800" spc="-285" dirty="0"/>
              <a:t> </a:t>
            </a:r>
            <a:r>
              <a:rPr sz="5800" spc="50" dirty="0"/>
              <a:t>Property</a:t>
            </a:r>
            <a:r>
              <a:rPr sz="5800" spc="-65" dirty="0"/>
              <a:t> </a:t>
            </a:r>
            <a:r>
              <a:rPr sz="5800" dirty="0"/>
              <a:t>Like</a:t>
            </a:r>
            <a:r>
              <a:rPr sz="5800" spc="-315" dirty="0"/>
              <a:t> </a:t>
            </a:r>
            <a:r>
              <a:rPr sz="5800" spc="45" dirty="0"/>
              <a:t>Stocks</a:t>
            </a:r>
            <a:endParaRPr sz="58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12598" y="3188007"/>
            <a:ext cx="3804285" cy="204216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45"/>
              </a:spcBef>
            </a:pPr>
            <a:r>
              <a:rPr sz="2700" dirty="0">
                <a:latin typeface="Arial MT"/>
                <a:cs typeface="Arial MT"/>
              </a:rPr>
              <a:t>Curated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Premium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Assets</a:t>
            </a:r>
            <a:endParaRPr sz="2700">
              <a:latin typeface="Arial MT"/>
              <a:cs typeface="Arial MT"/>
            </a:endParaRPr>
          </a:p>
          <a:p>
            <a:pPr marL="20320" marR="80645" indent="-8255">
              <a:lnSpc>
                <a:spcPct val="105600"/>
              </a:lnSpc>
              <a:spcBef>
                <a:spcPts val="765"/>
              </a:spcBef>
            </a:pPr>
            <a:r>
              <a:rPr sz="2150" dirty="0">
                <a:latin typeface="Arial MT"/>
                <a:cs typeface="Arial MT"/>
              </a:rPr>
              <a:t>Institutional-grade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commercial, </a:t>
            </a:r>
            <a:r>
              <a:rPr sz="2150" spc="-25" dirty="0">
                <a:latin typeface="Arial MT"/>
                <a:cs typeface="Arial MT"/>
              </a:rPr>
              <a:t>residential,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spc="-35" dirty="0">
                <a:latin typeface="Arial MT"/>
                <a:cs typeface="Arial MT"/>
              </a:rPr>
              <a:t>and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industrial </a:t>
            </a:r>
            <a:r>
              <a:rPr sz="2050" dirty="0">
                <a:latin typeface="Arial MT"/>
                <a:cs typeface="Arial MT"/>
              </a:rPr>
              <a:t>properties</a:t>
            </a:r>
            <a:r>
              <a:rPr sz="2050" spc="35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audited</a:t>
            </a:r>
            <a:r>
              <a:rPr sz="2050" spc="385" dirty="0">
                <a:latin typeface="Arial MT"/>
                <a:cs typeface="Arial MT"/>
              </a:rPr>
              <a:t> </a:t>
            </a:r>
            <a:r>
              <a:rPr sz="2050" spc="-25" dirty="0">
                <a:latin typeface="Arial MT"/>
                <a:cs typeface="Arial MT"/>
              </a:rPr>
              <a:t>and</a:t>
            </a:r>
            <a:endParaRPr sz="20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90"/>
              </a:spcBef>
            </a:pPr>
            <a:r>
              <a:rPr sz="2150" spc="-10" dirty="0">
                <a:latin typeface="Arial MT"/>
                <a:cs typeface="Arial MT"/>
              </a:rPr>
              <a:t>pre-vetted.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2572" y="6339246"/>
            <a:ext cx="3853179" cy="2044064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700" dirty="0">
                <a:latin typeface="Arial MT"/>
                <a:cs typeface="Arial MT"/>
              </a:rPr>
              <a:t>Micro-</a:t>
            </a:r>
            <a:r>
              <a:rPr sz="2700" spc="-10" dirty="0">
                <a:latin typeface="Arial MT"/>
                <a:cs typeface="Arial MT"/>
              </a:rPr>
              <a:t>Fractionalization</a:t>
            </a:r>
            <a:endParaRPr sz="2700">
              <a:latin typeface="Arial MT"/>
              <a:cs typeface="Arial MT"/>
            </a:endParaRPr>
          </a:p>
          <a:p>
            <a:pPr marL="13970" marR="5080" indent="4445">
              <a:lnSpc>
                <a:spcPts val="2700"/>
              </a:lnSpc>
              <a:spcBef>
                <a:spcPts val="850"/>
              </a:spcBef>
            </a:pPr>
            <a:r>
              <a:rPr sz="2150" spc="-30" dirty="0">
                <a:latin typeface="Arial MT"/>
                <a:cs typeface="Arial MT"/>
              </a:rPr>
              <a:t>Total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property</a:t>
            </a:r>
            <a:r>
              <a:rPr sz="2150" spc="-45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values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broken </a:t>
            </a:r>
            <a:r>
              <a:rPr sz="2200" spc="-20" dirty="0">
                <a:latin typeface="Arial MT"/>
                <a:cs typeface="Arial MT"/>
              </a:rPr>
              <a:t>down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highly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liquid,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SPL- </a:t>
            </a:r>
            <a:r>
              <a:rPr sz="2300" spc="-85" dirty="0">
                <a:latin typeface="Arial MT"/>
                <a:cs typeface="Arial MT"/>
              </a:rPr>
              <a:t>compatible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30" dirty="0">
                <a:latin typeface="Arial MT"/>
                <a:cs typeface="Arial MT"/>
              </a:rPr>
              <a:t>shares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accessible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to </a:t>
            </a:r>
            <a:r>
              <a:rPr sz="2300" spc="-70" dirty="0">
                <a:latin typeface="Arial MT"/>
                <a:cs typeface="Arial MT"/>
              </a:rPr>
              <a:t>global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wallets.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B6F63EDB-AAAD-EA54-715F-67485C82A307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200" y="7416800"/>
            <a:ext cx="825500" cy="787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1200" y="7416800"/>
            <a:ext cx="812800" cy="787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23500" y="7416800"/>
            <a:ext cx="825500" cy="787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3100" y="4965700"/>
            <a:ext cx="889000" cy="952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67700" y="3403600"/>
            <a:ext cx="939800" cy="901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80400" y="1574800"/>
            <a:ext cx="927100" cy="850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99600" y="4076700"/>
            <a:ext cx="431800" cy="330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114"/>
              </a:spcBef>
            </a:pPr>
            <a:r>
              <a:rPr sz="4150" dirty="0">
                <a:solidFill>
                  <a:srgbClr val="181818"/>
                </a:solidFill>
              </a:rPr>
              <a:t>The</a:t>
            </a:r>
            <a:r>
              <a:rPr sz="4150" spc="280" dirty="0">
                <a:solidFill>
                  <a:srgbClr val="181818"/>
                </a:solidFill>
              </a:rPr>
              <a:t> </a:t>
            </a:r>
            <a:r>
              <a:rPr sz="4150" dirty="0">
                <a:solidFill>
                  <a:srgbClr val="0E0E0E"/>
                </a:solidFill>
              </a:rPr>
              <a:t>Yield</a:t>
            </a:r>
            <a:r>
              <a:rPr sz="4150" spc="190" dirty="0">
                <a:solidFill>
                  <a:srgbClr val="0E0E0E"/>
                </a:solidFill>
              </a:rPr>
              <a:t> </a:t>
            </a:r>
            <a:r>
              <a:rPr sz="4150" dirty="0"/>
              <a:t>Waterfall:</a:t>
            </a:r>
            <a:r>
              <a:rPr sz="4150" spc="265" dirty="0"/>
              <a:t> </a:t>
            </a:r>
            <a:r>
              <a:rPr sz="4150" dirty="0">
                <a:solidFill>
                  <a:srgbClr val="0C0C0C"/>
                </a:solidFill>
              </a:rPr>
              <a:t>Automated</a:t>
            </a:r>
            <a:r>
              <a:rPr sz="4150" spc="325" dirty="0">
                <a:solidFill>
                  <a:srgbClr val="0C0C0C"/>
                </a:solidFill>
              </a:rPr>
              <a:t> </a:t>
            </a:r>
            <a:r>
              <a:rPr sz="4150" spc="55" dirty="0">
                <a:solidFill>
                  <a:srgbClr val="0C0C0C"/>
                </a:solidFill>
              </a:rPr>
              <a:t>Dividend</a:t>
            </a:r>
            <a:r>
              <a:rPr sz="4150" spc="85" dirty="0">
                <a:solidFill>
                  <a:srgbClr val="0C0C0C"/>
                </a:solidFill>
              </a:rPr>
              <a:t> </a:t>
            </a:r>
            <a:r>
              <a:rPr sz="4150" spc="70" dirty="0">
                <a:solidFill>
                  <a:srgbClr val="161616"/>
                </a:solidFill>
              </a:rPr>
              <a:t>Distribution</a:t>
            </a:r>
            <a:endParaRPr sz="415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64798" y="1697566"/>
            <a:ext cx="4378325" cy="12668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143125" marR="5080" indent="-3810">
              <a:lnSpc>
                <a:spcPts val="2200"/>
              </a:lnSpc>
              <a:spcBef>
                <a:spcPts val="420"/>
              </a:spcBef>
            </a:pPr>
            <a:r>
              <a:rPr sz="2050" spc="-114" dirty="0">
                <a:latin typeface="Arial MT"/>
                <a:cs typeface="Arial MT"/>
              </a:rPr>
              <a:t>Tenant</a:t>
            </a:r>
            <a:r>
              <a:rPr sz="2050" dirty="0">
                <a:latin typeface="Arial MT"/>
                <a:cs typeface="Arial MT"/>
              </a:rPr>
              <a:t> </a:t>
            </a:r>
            <a:r>
              <a:rPr sz="2050" spc="-95" dirty="0">
                <a:latin typeface="Arial MT"/>
                <a:cs typeface="Arial MT"/>
              </a:rPr>
              <a:t>pays</a:t>
            </a:r>
            <a:r>
              <a:rPr sz="2050" spc="-45" dirty="0">
                <a:latin typeface="Arial MT"/>
                <a:cs typeface="Arial MT"/>
              </a:rPr>
              <a:t> </a:t>
            </a:r>
            <a:r>
              <a:rPr sz="2050" spc="-70" dirty="0">
                <a:latin typeface="Arial MT"/>
                <a:cs typeface="Arial MT"/>
              </a:rPr>
              <a:t>monthly </a:t>
            </a:r>
            <a:r>
              <a:rPr sz="2050" spc="-10" dirty="0">
                <a:latin typeface="Arial MT"/>
                <a:cs typeface="Arial MT"/>
              </a:rPr>
              <a:t>fiat</a:t>
            </a:r>
            <a:r>
              <a:rPr sz="2050" spc="-110" dirty="0">
                <a:latin typeface="Arial MT"/>
                <a:cs typeface="Arial MT"/>
              </a:rPr>
              <a:t> </a:t>
            </a:r>
            <a:r>
              <a:rPr sz="2050" spc="-20" dirty="0">
                <a:latin typeface="Arial MT"/>
                <a:cs typeface="Arial MT"/>
              </a:rPr>
              <a:t>rent</a:t>
            </a:r>
            <a:endParaRPr sz="2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spc="-10" dirty="0">
                <a:latin typeface="Arial MT"/>
                <a:cs typeface="Arial MT"/>
              </a:rPr>
              <a:t>Conversion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5846" y="3683705"/>
            <a:ext cx="192913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65" dirty="0">
                <a:latin typeface="Arial MT"/>
                <a:cs typeface="Arial MT"/>
              </a:rPr>
              <a:t>PDA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spc="-35" dirty="0">
                <a:latin typeface="Arial MT"/>
                <a:cs typeface="Arial MT"/>
              </a:rPr>
              <a:t>Vault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spc="-114" dirty="0">
                <a:latin typeface="Arial MT"/>
                <a:cs typeface="Arial MT"/>
              </a:rPr>
              <a:t>(USDC)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30969" y="3953933"/>
            <a:ext cx="1387475" cy="5143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31775" marR="5080" indent="-219710">
              <a:lnSpc>
                <a:spcPts val="1850"/>
              </a:lnSpc>
              <a:spcBef>
                <a:spcPts val="285"/>
              </a:spcBef>
            </a:pPr>
            <a:r>
              <a:rPr sz="1650" spc="-20" dirty="0">
                <a:latin typeface="Arial MT"/>
                <a:cs typeface="Arial MT"/>
              </a:rPr>
              <a:t>Protocol</a:t>
            </a:r>
            <a:r>
              <a:rPr sz="1650" spc="-55" dirty="0">
                <a:latin typeface="Arial MT"/>
                <a:cs typeface="Arial MT"/>
              </a:rPr>
              <a:t> </a:t>
            </a:r>
            <a:r>
              <a:rPr sz="1650" spc="-60" dirty="0">
                <a:latin typeface="Arial MT"/>
                <a:cs typeface="Arial MT"/>
              </a:rPr>
              <a:t>Admin </a:t>
            </a:r>
            <a:r>
              <a:rPr sz="1650" spc="-55" dirty="0">
                <a:latin typeface="Arial MT"/>
                <a:cs typeface="Arial MT"/>
              </a:rPr>
              <a:t>(1-</a:t>
            </a:r>
            <a:r>
              <a:rPr sz="1650" spc="-45" dirty="0">
                <a:latin typeface="Arial MT"/>
                <a:cs typeface="Arial MT"/>
              </a:rPr>
              <a:t>2v.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Fee)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90967" y="5122686"/>
            <a:ext cx="4370070" cy="6102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110"/>
              </a:spcBef>
            </a:pPr>
            <a:r>
              <a:rPr sz="2000" spc="-25" dirty="0">
                <a:latin typeface="Arial MT"/>
                <a:cs typeface="Arial MT"/>
              </a:rPr>
              <a:t>Pyth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Network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Oracles </a:t>
            </a:r>
            <a:r>
              <a:rPr sz="2000" spc="-20" dirty="0">
                <a:latin typeface="Arial MT"/>
                <a:cs typeface="Arial MT"/>
              </a:rPr>
              <a:t>bridge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off-</a:t>
            </a:r>
            <a:r>
              <a:rPr sz="2000" spc="-10" dirty="0">
                <a:latin typeface="Arial MT"/>
                <a:cs typeface="Arial MT"/>
              </a:rPr>
              <a:t>chain</a:t>
            </a:r>
            <a:endParaRPr sz="2000">
              <a:latin typeface="Arial MT"/>
              <a:cs typeface="Arial MT"/>
            </a:endParaRPr>
          </a:p>
          <a:p>
            <a:pPr marL="15875">
              <a:lnSpc>
                <a:spcPts val="2265"/>
              </a:lnSpc>
            </a:pPr>
            <a:r>
              <a:rPr sz="1950" dirty="0">
                <a:latin typeface="Arial MT"/>
                <a:cs typeface="Arial MT"/>
              </a:rPr>
              <a:t>property</a:t>
            </a:r>
            <a:r>
              <a:rPr sz="1950" spc="-1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data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-10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trigger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smart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contracts.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0610" y="8411985"/>
            <a:ext cx="6748145" cy="6184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19785" marR="5080" indent="-807720">
              <a:lnSpc>
                <a:spcPts val="2250"/>
              </a:lnSpc>
              <a:spcBef>
                <a:spcPts val="310"/>
              </a:spcBef>
            </a:pPr>
            <a:r>
              <a:rPr sz="2000" spc="-55" dirty="0">
                <a:latin typeface="Arial MT"/>
                <a:cs typeface="Arial MT"/>
              </a:rPr>
              <a:t>Smart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contract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automatically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distributes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remaining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USDC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yield </a:t>
            </a:r>
            <a:r>
              <a:rPr sz="2000" spc="-50" dirty="0">
                <a:latin typeface="Arial MT"/>
                <a:cs typeface="Arial MT"/>
              </a:rPr>
              <a:t>pro-</a:t>
            </a:r>
            <a:r>
              <a:rPr sz="2000" dirty="0">
                <a:latin typeface="Arial MT"/>
                <a:cs typeface="Arial MT"/>
              </a:rPr>
              <a:t>rata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45" dirty="0">
                <a:latin typeface="Arial MT"/>
                <a:cs typeface="Arial MT"/>
              </a:rPr>
              <a:t>all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fractional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token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holders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instantly.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Ορθογώνιο 15">
            <a:extLst>
              <a:ext uri="{FF2B5EF4-FFF2-40B4-BE49-F238E27FC236}">
                <a16:creationId xmlns:a16="http://schemas.microsoft.com/office/drawing/2014/main" id="{04252692-82FF-FE65-38F6-6F318F043853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6100" y="2057400"/>
            <a:ext cx="6235700" cy="5130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2062" y="503766"/>
            <a:ext cx="10749915" cy="723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50" spc="-280" dirty="0"/>
              <a:t>Business</a:t>
            </a:r>
            <a:r>
              <a:rPr sz="4550" spc="-35" dirty="0"/>
              <a:t> </a:t>
            </a:r>
            <a:r>
              <a:rPr sz="4550" spc="-170" dirty="0"/>
              <a:t>Strategy:</a:t>
            </a:r>
            <a:r>
              <a:rPr sz="4550" spc="-120" dirty="0"/>
              <a:t> </a:t>
            </a:r>
            <a:r>
              <a:rPr sz="4550" spc="-160" dirty="0"/>
              <a:t>Multi-</a:t>
            </a:r>
            <a:r>
              <a:rPr sz="4550" spc="-130" dirty="0"/>
              <a:t>Stage</a:t>
            </a:r>
            <a:r>
              <a:rPr sz="4550" spc="30" dirty="0"/>
              <a:t> </a:t>
            </a:r>
            <a:r>
              <a:rPr sz="4550" spc="-330" dirty="0"/>
              <a:t>Value</a:t>
            </a:r>
            <a:r>
              <a:rPr sz="4550" spc="-160" dirty="0"/>
              <a:t> </a:t>
            </a:r>
            <a:r>
              <a:rPr sz="4550" spc="-100" dirty="0"/>
              <a:t>Capture</a:t>
            </a:r>
            <a:endParaRPr sz="455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906" y="3010834"/>
            <a:ext cx="3705225" cy="234442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340"/>
              </a:spcBef>
            </a:pPr>
            <a:r>
              <a:rPr sz="4000" spc="-45" dirty="0">
                <a:latin typeface="Arial MT"/>
                <a:cs typeface="Arial MT"/>
              </a:rPr>
              <a:t>Origination</a:t>
            </a:r>
            <a:r>
              <a:rPr sz="4000" spc="-175" dirty="0">
                <a:latin typeface="Arial MT"/>
                <a:cs typeface="Arial MT"/>
              </a:rPr>
              <a:t> </a:t>
            </a:r>
            <a:r>
              <a:rPr sz="4000" spc="-70" dirty="0">
                <a:latin typeface="Arial MT"/>
                <a:cs typeface="Arial MT"/>
              </a:rPr>
              <a:t>Fees</a:t>
            </a:r>
            <a:endParaRPr sz="4000">
              <a:latin typeface="Arial MT"/>
              <a:cs typeface="Arial MT"/>
            </a:endParaRPr>
          </a:p>
          <a:p>
            <a:pPr marL="12700" marR="5080" indent="26670" algn="r">
              <a:lnSpc>
                <a:spcPct val="91000"/>
              </a:lnSpc>
              <a:spcBef>
                <a:spcPts val="1075"/>
              </a:spcBef>
            </a:pPr>
            <a:r>
              <a:rPr sz="2550" spc="-195" dirty="0">
                <a:latin typeface="Arial MT"/>
                <a:cs typeface="Arial MT"/>
              </a:rPr>
              <a:t>1-</a:t>
            </a:r>
            <a:r>
              <a:rPr sz="2550" spc="-300" dirty="0">
                <a:latin typeface="Arial MT"/>
                <a:cs typeface="Arial MT"/>
              </a:rPr>
              <a:t>2%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flat</a:t>
            </a:r>
            <a:r>
              <a:rPr sz="2550" spc="-145" dirty="0">
                <a:latin typeface="Arial MT"/>
                <a:cs typeface="Arial MT"/>
              </a:rPr>
              <a:t> </a:t>
            </a:r>
            <a:r>
              <a:rPr sz="2550" spc="-150" dirty="0">
                <a:latin typeface="Arial MT"/>
                <a:cs typeface="Arial MT"/>
              </a:rPr>
              <a:t>fee</a:t>
            </a:r>
            <a:r>
              <a:rPr sz="2550" spc="-125" dirty="0">
                <a:latin typeface="Arial MT"/>
                <a:cs typeface="Arial MT"/>
              </a:rPr>
              <a:t> </a:t>
            </a:r>
            <a:r>
              <a:rPr sz="2550" spc="-135" dirty="0">
                <a:latin typeface="Arial MT"/>
                <a:cs typeface="Arial MT"/>
              </a:rPr>
              <a:t>charged</a:t>
            </a:r>
            <a:r>
              <a:rPr sz="2550" spc="35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to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real </a:t>
            </a:r>
            <a:r>
              <a:rPr sz="2550" spc="-114" dirty="0">
                <a:latin typeface="Arial MT"/>
                <a:cs typeface="Arial MT"/>
              </a:rPr>
              <a:t>estate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25" dirty="0">
                <a:latin typeface="Arial MT"/>
                <a:cs typeface="Arial MT"/>
              </a:rPr>
              <a:t>developers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for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legal </a:t>
            </a:r>
            <a:r>
              <a:rPr sz="2550" spc="-114" dirty="0">
                <a:latin typeface="Arial MT"/>
                <a:cs typeface="Arial MT"/>
              </a:rPr>
              <a:t>auditing,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345" dirty="0">
                <a:latin typeface="Arial MT"/>
                <a:cs typeface="Arial MT"/>
              </a:rPr>
              <a:t>SPV</a:t>
            </a:r>
            <a:r>
              <a:rPr sz="2550" spc="-30" dirty="0">
                <a:latin typeface="Arial MT"/>
                <a:cs typeface="Arial MT"/>
              </a:rPr>
              <a:t> </a:t>
            </a:r>
            <a:r>
              <a:rPr sz="2550" spc="-110" dirty="0">
                <a:latin typeface="Arial MT"/>
                <a:cs typeface="Arial MT"/>
              </a:rPr>
              <a:t>formation,</a:t>
            </a:r>
            <a:r>
              <a:rPr sz="2550" spc="20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and </a:t>
            </a:r>
            <a:r>
              <a:rPr sz="2550" spc="-125" dirty="0">
                <a:latin typeface="Arial MT"/>
                <a:cs typeface="Arial MT"/>
              </a:rPr>
              <a:t>minting</a:t>
            </a:r>
            <a:r>
              <a:rPr sz="2550" spc="-25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the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145" dirty="0">
                <a:latin typeface="Arial MT"/>
                <a:cs typeface="Arial MT"/>
              </a:rPr>
              <a:t>asset</a:t>
            </a:r>
            <a:r>
              <a:rPr sz="2550" spc="20" dirty="0">
                <a:latin typeface="Arial MT"/>
                <a:cs typeface="Arial MT"/>
              </a:rPr>
              <a:t> </a:t>
            </a:r>
            <a:r>
              <a:rPr sz="2550" spc="-135" dirty="0">
                <a:latin typeface="Arial MT"/>
                <a:cs typeface="Arial MT"/>
              </a:rPr>
              <a:t>on-</a:t>
            </a:r>
            <a:r>
              <a:rPr sz="2550" spc="-10" dirty="0">
                <a:latin typeface="Arial MT"/>
                <a:cs typeface="Arial MT"/>
              </a:rPr>
              <a:t>chain.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0571" y="7347712"/>
            <a:ext cx="5608955" cy="187896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790"/>
              </a:spcBef>
            </a:pPr>
            <a:r>
              <a:rPr sz="4000" spc="-55" dirty="0">
                <a:latin typeface="Arial MT"/>
                <a:cs typeface="Arial MT"/>
              </a:rPr>
              <a:t>Yield</a:t>
            </a:r>
            <a:r>
              <a:rPr sz="4000" spc="-19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Administration</a:t>
            </a:r>
            <a:endParaRPr sz="4000">
              <a:latin typeface="Arial MT"/>
              <a:cs typeface="Arial MT"/>
            </a:endParaRPr>
          </a:p>
          <a:p>
            <a:pPr marL="12700" marR="5080" indent="-42545" algn="ctr">
              <a:lnSpc>
                <a:spcPts val="2800"/>
              </a:lnSpc>
              <a:spcBef>
                <a:spcPts val="760"/>
              </a:spcBef>
            </a:pPr>
            <a:r>
              <a:rPr sz="2550" spc="-195" dirty="0">
                <a:latin typeface="Arial MT"/>
                <a:cs typeface="Arial MT"/>
              </a:rPr>
              <a:t>1-</a:t>
            </a:r>
            <a:r>
              <a:rPr sz="2550" spc="-300" dirty="0">
                <a:latin typeface="Arial MT"/>
                <a:cs typeface="Arial MT"/>
              </a:rPr>
              <a:t>2%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120" dirty="0">
                <a:latin typeface="Arial MT"/>
                <a:cs typeface="Arial MT"/>
              </a:rPr>
              <a:t>recurring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170" dirty="0">
                <a:latin typeface="Arial MT"/>
                <a:cs typeface="Arial MT"/>
              </a:rPr>
              <a:t>management</a:t>
            </a:r>
            <a:r>
              <a:rPr sz="2550" spc="120" dirty="0">
                <a:latin typeface="Arial MT"/>
                <a:cs typeface="Arial MT"/>
              </a:rPr>
              <a:t> </a:t>
            </a:r>
            <a:r>
              <a:rPr sz="2550" spc="-135" dirty="0">
                <a:latin typeface="Arial MT"/>
                <a:cs typeface="Arial MT"/>
              </a:rPr>
              <a:t>fee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skimmed </a:t>
            </a:r>
            <a:r>
              <a:rPr sz="2550" spc="-150" dirty="0">
                <a:latin typeface="Arial MT"/>
                <a:cs typeface="Arial MT"/>
              </a:rPr>
              <a:t>from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130" dirty="0">
                <a:latin typeface="Arial MT"/>
                <a:cs typeface="Arial MT"/>
              </a:rPr>
              <a:t>generated</a:t>
            </a:r>
            <a:r>
              <a:rPr sz="2550" spc="70" dirty="0">
                <a:latin typeface="Arial MT"/>
                <a:cs typeface="Arial MT"/>
              </a:rPr>
              <a:t> </a:t>
            </a:r>
            <a:r>
              <a:rPr sz="2550" spc="-130" dirty="0">
                <a:latin typeface="Arial MT"/>
                <a:cs typeface="Arial MT"/>
              </a:rPr>
              <a:t>rental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150" dirty="0">
                <a:latin typeface="Arial MT"/>
                <a:cs typeface="Arial MT"/>
              </a:rPr>
              <a:t>income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135" dirty="0">
                <a:latin typeface="Arial MT"/>
                <a:cs typeface="Arial MT"/>
              </a:rPr>
              <a:t>before</a:t>
            </a:r>
            <a:r>
              <a:rPr sz="2550" spc="-40" dirty="0">
                <a:latin typeface="Arial MT"/>
                <a:cs typeface="Arial MT"/>
              </a:rPr>
              <a:t> </a:t>
            </a:r>
            <a:r>
              <a:rPr sz="2550" spc="-335" dirty="0">
                <a:latin typeface="Arial MT"/>
                <a:cs typeface="Arial MT"/>
              </a:rPr>
              <a:t>USDC </a:t>
            </a:r>
            <a:r>
              <a:rPr sz="2500" spc="-60" dirty="0">
                <a:latin typeface="Arial MT"/>
                <a:cs typeface="Arial MT"/>
              </a:rPr>
              <a:t>distribution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to</a:t>
            </a:r>
            <a:r>
              <a:rPr sz="2500" spc="-200" dirty="0">
                <a:latin typeface="Arial MT"/>
                <a:cs typeface="Arial MT"/>
              </a:rPr>
              <a:t> </a:t>
            </a:r>
            <a:r>
              <a:rPr sz="2500" spc="-75" dirty="0">
                <a:latin typeface="Arial MT"/>
                <a:cs typeface="Arial MT"/>
              </a:rPr>
              <a:t>token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holders.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2634" y="2625372"/>
            <a:ext cx="4292600" cy="27241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5400" marR="1435735" indent="-13335">
              <a:lnSpc>
                <a:spcPts val="4250"/>
              </a:lnSpc>
              <a:spcBef>
                <a:spcPts val="725"/>
              </a:spcBef>
            </a:pPr>
            <a:r>
              <a:rPr sz="4000" spc="-10" dirty="0">
                <a:latin typeface="Arial MT"/>
                <a:cs typeface="Arial MT"/>
              </a:rPr>
              <a:t>Marketplace </a:t>
            </a:r>
            <a:r>
              <a:rPr sz="4000" spc="-60" dirty="0">
                <a:latin typeface="Arial MT"/>
                <a:cs typeface="Arial MT"/>
              </a:rPr>
              <a:t>Trading</a:t>
            </a:r>
            <a:r>
              <a:rPr sz="4000" spc="-210" dirty="0">
                <a:latin typeface="Arial MT"/>
                <a:cs typeface="Arial MT"/>
              </a:rPr>
              <a:t> </a:t>
            </a:r>
            <a:r>
              <a:rPr sz="4000" spc="-190" dirty="0">
                <a:latin typeface="Arial MT"/>
                <a:cs typeface="Arial MT"/>
              </a:rPr>
              <a:t>Fees</a:t>
            </a:r>
            <a:endParaRPr sz="4000">
              <a:latin typeface="Arial MT"/>
              <a:cs typeface="Arial MT"/>
            </a:endParaRPr>
          </a:p>
          <a:p>
            <a:pPr marL="17145" marR="5080" indent="6985">
              <a:lnSpc>
                <a:spcPct val="98600"/>
              </a:lnSpc>
              <a:spcBef>
                <a:spcPts val="940"/>
              </a:spcBef>
            </a:pPr>
            <a:r>
              <a:rPr sz="2400" spc="-320" dirty="0">
                <a:latin typeface="Arial MT"/>
                <a:cs typeface="Arial MT"/>
              </a:rPr>
              <a:t>0.1%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swap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fee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captured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by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protocol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1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every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secondary </a:t>
            </a:r>
            <a:r>
              <a:rPr sz="2300" dirty="0">
                <a:latin typeface="Arial MT"/>
                <a:cs typeface="Arial MT"/>
              </a:rPr>
              <a:t>market</a:t>
            </a:r>
            <a:r>
              <a:rPr sz="2300" spc="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transaction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moving </a:t>
            </a:r>
            <a:r>
              <a:rPr sz="2350" dirty="0">
                <a:latin typeface="Arial MT"/>
                <a:cs typeface="Arial MT"/>
              </a:rPr>
              <a:t>through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frontend</a:t>
            </a:r>
            <a:r>
              <a:rPr sz="2350" spc="2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order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book.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B18BA587-1169-6DC0-FA0E-DF71382ADDB9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100"/>
              </a:spcBef>
            </a:pPr>
            <a:r>
              <a:rPr sz="4650" spc="-130" dirty="0"/>
              <a:t>The</a:t>
            </a:r>
            <a:r>
              <a:rPr sz="4650" spc="-195" dirty="0"/>
              <a:t> </a:t>
            </a:r>
            <a:r>
              <a:rPr sz="4650" spc="-110" dirty="0"/>
              <a:t>Evolution</a:t>
            </a:r>
            <a:r>
              <a:rPr sz="4650" spc="-190" dirty="0"/>
              <a:t> </a:t>
            </a:r>
            <a:r>
              <a:rPr sz="4650" dirty="0"/>
              <a:t>of</a:t>
            </a:r>
            <a:r>
              <a:rPr sz="4650" spc="-140" dirty="0"/>
              <a:t> </a:t>
            </a:r>
            <a:r>
              <a:rPr sz="4650" spc="-340" dirty="0"/>
              <a:t>Real</a:t>
            </a:r>
            <a:r>
              <a:rPr sz="4650" spc="-15" dirty="0"/>
              <a:t> </a:t>
            </a:r>
            <a:r>
              <a:rPr sz="4650" spc="-114" dirty="0"/>
              <a:t>Estate:</a:t>
            </a:r>
            <a:r>
              <a:rPr sz="4650" spc="-210" dirty="0"/>
              <a:t> </a:t>
            </a:r>
            <a:r>
              <a:rPr sz="4650" spc="-55" dirty="0"/>
              <a:t>Protocol</a:t>
            </a:r>
            <a:r>
              <a:rPr sz="4650" spc="-114" dirty="0"/>
              <a:t> </a:t>
            </a:r>
            <a:r>
              <a:rPr sz="4650" spc="-70" dirty="0"/>
              <a:t>vs.</a:t>
            </a:r>
            <a:r>
              <a:rPr sz="4650" spc="-360" dirty="0"/>
              <a:t> </a:t>
            </a:r>
            <a:r>
              <a:rPr sz="4650" spc="-425" dirty="0"/>
              <a:t>REITs</a:t>
            </a:r>
            <a:endParaRPr sz="4650"/>
          </a:p>
        </p:txBody>
      </p:sp>
      <p:sp>
        <p:nvSpPr>
          <p:cNvPr id="3" name="object 3"/>
          <p:cNvSpPr txBox="1"/>
          <p:nvPr/>
        </p:nvSpPr>
        <p:spPr>
          <a:xfrm>
            <a:off x="1540098" y="3419475"/>
            <a:ext cx="218376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40" dirty="0">
                <a:solidFill>
                  <a:srgbClr val="626262"/>
                </a:solidFill>
                <a:latin typeface="Arial MT"/>
                <a:cs typeface="Arial MT"/>
              </a:rPr>
              <a:t>Trading</a:t>
            </a:r>
            <a:r>
              <a:rPr sz="3100" spc="25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3100" spc="-200" dirty="0">
                <a:solidFill>
                  <a:srgbClr val="646464"/>
                </a:solidFill>
                <a:latin typeface="Arial MT"/>
                <a:cs typeface="Arial MT"/>
              </a:rPr>
              <a:t>Hours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1044" y="2217561"/>
            <a:ext cx="4177029" cy="1710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0670" algn="ctr">
              <a:lnSpc>
                <a:spcPct val="100000"/>
              </a:lnSpc>
              <a:spcBef>
                <a:spcPts val="135"/>
              </a:spcBef>
            </a:pPr>
            <a:r>
              <a:rPr sz="3850" spc="-120" dirty="0">
                <a:solidFill>
                  <a:srgbClr val="757575"/>
                </a:solidFill>
                <a:latin typeface="Arial MT"/>
                <a:cs typeface="Arial MT"/>
              </a:rPr>
              <a:t>Traditional</a:t>
            </a:r>
            <a:r>
              <a:rPr sz="3850" spc="-80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3850" spc="-470" dirty="0">
                <a:solidFill>
                  <a:srgbClr val="777777"/>
                </a:solidFill>
                <a:latin typeface="Arial MT"/>
                <a:cs typeface="Arial MT"/>
              </a:rPr>
              <a:t>REITs</a:t>
            </a:r>
            <a:endParaRPr sz="3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3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376929" algn="l"/>
              </a:tabLst>
            </a:pPr>
            <a:r>
              <a:rPr sz="3100" spc="-185" dirty="0">
                <a:latin typeface="Arial MT"/>
                <a:cs typeface="Arial MT"/>
              </a:rPr>
              <a:t>Market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235" dirty="0">
                <a:latin typeface="Arial MT"/>
                <a:cs typeface="Arial MT"/>
              </a:rPr>
              <a:t>Hours</a:t>
            </a:r>
            <a:r>
              <a:rPr sz="3100" spc="2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(9:30</a:t>
            </a:r>
            <a:r>
              <a:rPr sz="3100" dirty="0">
                <a:latin typeface="Arial MT"/>
                <a:cs typeface="Arial MT"/>
              </a:rPr>
              <a:t>	</a:t>
            </a:r>
            <a:r>
              <a:rPr sz="3100" spc="-165" dirty="0">
                <a:latin typeface="Arial MT"/>
                <a:cs typeface="Arial MT"/>
              </a:rPr>
              <a:t>4:00)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121" y="2212622"/>
            <a:ext cx="317754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340" dirty="0">
                <a:latin typeface="Arial MT"/>
                <a:cs typeface="Arial MT"/>
              </a:rPr>
              <a:t>Solana</a:t>
            </a:r>
            <a:r>
              <a:rPr sz="4000" spc="45" dirty="0">
                <a:latin typeface="Arial MT"/>
                <a:cs typeface="Arial MT"/>
              </a:rPr>
              <a:t> </a:t>
            </a:r>
            <a:r>
              <a:rPr sz="4000" spc="-180" dirty="0">
                <a:latin typeface="Arial MT"/>
                <a:cs typeface="Arial MT"/>
              </a:rPr>
              <a:t>Protocol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2742" y="3425825"/>
            <a:ext cx="385191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20" dirty="0">
                <a:latin typeface="Arial MT"/>
                <a:cs typeface="Arial MT"/>
              </a:rPr>
              <a:t>24/7/365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235" dirty="0">
                <a:latin typeface="Arial MT"/>
                <a:cs typeface="Arial MT"/>
              </a:rPr>
              <a:t>Global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Markets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1571" y="4568825"/>
            <a:ext cx="275717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75" dirty="0">
                <a:solidFill>
                  <a:srgbClr val="646464"/>
                </a:solidFill>
                <a:latin typeface="Arial MT"/>
                <a:cs typeface="Arial MT"/>
              </a:rPr>
              <a:t>Settlement</a:t>
            </a:r>
            <a:r>
              <a:rPr sz="3100" spc="3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3100" spc="-340" dirty="0">
                <a:solidFill>
                  <a:srgbClr val="676767"/>
                </a:solidFill>
                <a:latin typeface="Arial MT"/>
                <a:cs typeface="Arial MT"/>
              </a:rPr>
              <a:t>Speeo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8498" y="4568825"/>
            <a:ext cx="255460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315" dirty="0">
                <a:latin typeface="Arial MT"/>
                <a:cs typeface="Arial MT"/>
              </a:rPr>
              <a:t>T+1</a:t>
            </a:r>
            <a:r>
              <a:rPr sz="3100" spc="-220" dirty="0">
                <a:latin typeface="Arial MT"/>
                <a:cs typeface="Arial MT"/>
              </a:rPr>
              <a:t> </a:t>
            </a:r>
            <a:r>
              <a:rPr sz="3100" spc="-200" dirty="0">
                <a:latin typeface="Arial MT"/>
                <a:cs typeface="Arial MT"/>
              </a:rPr>
              <a:t>or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229" dirty="0">
                <a:latin typeface="Arial MT"/>
                <a:cs typeface="Arial MT"/>
              </a:rPr>
              <a:t>T+2</a:t>
            </a:r>
            <a:r>
              <a:rPr sz="3100" spc="-125" dirty="0">
                <a:latin typeface="Arial MT"/>
                <a:cs typeface="Arial MT"/>
              </a:rPr>
              <a:t> </a:t>
            </a:r>
            <a:r>
              <a:rPr sz="3100" spc="-305" dirty="0">
                <a:latin typeface="Arial MT"/>
                <a:cs typeface="Arial MT"/>
              </a:rPr>
              <a:t>Days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7398" y="5718175"/>
            <a:ext cx="208788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29" dirty="0">
                <a:solidFill>
                  <a:srgbClr val="676767"/>
                </a:solidFill>
                <a:latin typeface="Arial MT"/>
                <a:cs typeface="Arial MT"/>
              </a:rPr>
              <a:t>Transparency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86671" y="4359275"/>
            <a:ext cx="4008120" cy="9207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228600">
              <a:lnSpc>
                <a:spcPts val="3300"/>
              </a:lnSpc>
              <a:spcBef>
                <a:spcPts val="585"/>
              </a:spcBef>
            </a:pPr>
            <a:r>
              <a:rPr sz="3100" spc="-150" dirty="0">
                <a:latin typeface="Arial MT"/>
                <a:cs typeface="Arial MT"/>
              </a:rPr>
              <a:t>400 </a:t>
            </a:r>
            <a:r>
              <a:rPr sz="3100" spc="-170" dirty="0">
                <a:latin typeface="Arial MT"/>
                <a:cs typeface="Arial MT"/>
              </a:rPr>
              <a:t>Milliseconds</a:t>
            </a:r>
            <a:r>
              <a:rPr sz="3100" spc="35" dirty="0">
                <a:latin typeface="Arial MT"/>
                <a:cs typeface="Arial MT"/>
              </a:rPr>
              <a:t> </a:t>
            </a:r>
            <a:r>
              <a:rPr sz="3100" spc="-195" dirty="0">
                <a:latin typeface="Arial MT"/>
                <a:cs typeface="Arial MT"/>
              </a:rPr>
              <a:t>Atomic </a:t>
            </a:r>
            <a:r>
              <a:rPr sz="3100" spc="-100" dirty="0">
                <a:latin typeface="Arial MT"/>
                <a:cs typeface="Arial MT"/>
              </a:rPr>
              <a:t>Settlement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39988" y="5706886"/>
            <a:ext cx="4070985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254" dirty="0">
                <a:latin typeface="Arial MT"/>
                <a:cs typeface="Arial MT"/>
              </a:rPr>
              <a:t>Quarterly</a:t>
            </a:r>
            <a:r>
              <a:rPr sz="3250" spc="150" dirty="0">
                <a:latin typeface="Arial MT"/>
                <a:cs typeface="Arial MT"/>
              </a:rPr>
              <a:t> </a:t>
            </a:r>
            <a:r>
              <a:rPr sz="3250" spc="-375" dirty="0">
                <a:latin typeface="Arial MT"/>
                <a:cs typeface="Arial MT"/>
              </a:rPr>
              <a:t>Opaque</a:t>
            </a:r>
            <a:r>
              <a:rPr sz="3250" spc="10" dirty="0">
                <a:latin typeface="Arial MT"/>
                <a:cs typeface="Arial MT"/>
              </a:rPr>
              <a:t> </a:t>
            </a:r>
            <a:r>
              <a:rPr sz="3250" spc="-305" dirty="0">
                <a:latin typeface="Arial MT"/>
                <a:cs typeface="Arial MT"/>
              </a:rPr>
              <a:t>Reports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84615" y="5706886"/>
            <a:ext cx="484378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290" dirty="0">
                <a:latin typeface="Arial MT"/>
                <a:cs typeface="Arial MT"/>
              </a:rPr>
              <a:t>Real-</a:t>
            </a:r>
            <a:r>
              <a:rPr sz="3250" spc="-285" dirty="0">
                <a:latin typeface="Arial MT"/>
                <a:cs typeface="Arial MT"/>
              </a:rPr>
              <a:t>time</a:t>
            </a:r>
            <a:r>
              <a:rPr sz="3250" spc="70" dirty="0">
                <a:latin typeface="Arial MT"/>
                <a:cs typeface="Arial MT"/>
              </a:rPr>
              <a:t> </a:t>
            </a:r>
            <a:r>
              <a:rPr sz="3250" spc="-295" dirty="0">
                <a:latin typeface="Arial MT"/>
                <a:cs typeface="Arial MT"/>
              </a:rPr>
              <a:t>On-</a:t>
            </a:r>
            <a:r>
              <a:rPr sz="3250" spc="-254" dirty="0">
                <a:latin typeface="Arial MT"/>
                <a:cs typeface="Arial MT"/>
              </a:rPr>
              <a:t>chain</a:t>
            </a:r>
            <a:r>
              <a:rPr sz="3250" spc="140" dirty="0">
                <a:latin typeface="Arial MT"/>
                <a:cs typeface="Arial MT"/>
              </a:rPr>
              <a:t> </a:t>
            </a:r>
            <a:r>
              <a:rPr sz="3250" spc="-220" dirty="0">
                <a:latin typeface="Arial MT"/>
                <a:cs typeface="Arial MT"/>
              </a:rPr>
              <a:t>Verification</a:t>
            </a:r>
            <a:endParaRPr sz="3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2644" y="6873875"/>
            <a:ext cx="319405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70" dirty="0">
                <a:solidFill>
                  <a:srgbClr val="626262"/>
                </a:solidFill>
                <a:latin typeface="Arial MT"/>
                <a:cs typeface="Arial MT"/>
              </a:rPr>
              <a:t>Minimum</a:t>
            </a:r>
            <a:r>
              <a:rPr sz="3100" spc="19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3100" spc="-185" dirty="0">
                <a:solidFill>
                  <a:srgbClr val="6B6B6B"/>
                </a:solidFill>
                <a:latin typeface="Arial MT"/>
                <a:cs typeface="Arial MT"/>
              </a:rPr>
              <a:t>investment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3654" y="6873875"/>
            <a:ext cx="378587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40" dirty="0">
                <a:latin typeface="Arial MT"/>
                <a:cs typeface="Arial MT"/>
              </a:rPr>
              <a:t>$500+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185" dirty="0">
                <a:latin typeface="Arial MT"/>
                <a:cs typeface="Arial MT"/>
              </a:rPr>
              <a:t>broker</a:t>
            </a:r>
            <a:r>
              <a:rPr sz="3100" spc="35" dirty="0">
                <a:latin typeface="Arial MT"/>
                <a:cs typeface="Arial MT"/>
              </a:rPr>
              <a:t> </a:t>
            </a:r>
            <a:r>
              <a:rPr sz="3100" spc="-280" dirty="0">
                <a:latin typeface="Arial MT"/>
                <a:cs typeface="Arial MT"/>
              </a:rPr>
              <a:t>minimums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8278" y="8016875"/>
            <a:ext cx="1863089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70" dirty="0">
                <a:solidFill>
                  <a:srgbClr val="666666"/>
                </a:solidFill>
                <a:latin typeface="Arial MT"/>
                <a:cs typeface="Arial MT"/>
              </a:rPr>
              <a:t>Governance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90355" y="6873875"/>
            <a:ext cx="3675379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65" dirty="0">
                <a:latin typeface="Arial MT"/>
                <a:cs typeface="Arial MT"/>
              </a:rPr>
              <a:t>$50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135" dirty="0">
                <a:latin typeface="Arial MT"/>
                <a:cs typeface="Arial MT"/>
              </a:rPr>
              <a:t>micro-</a:t>
            </a:r>
            <a:r>
              <a:rPr sz="3100" spc="-110" dirty="0">
                <a:latin typeface="Arial MT"/>
                <a:cs typeface="Arial MT"/>
              </a:rPr>
              <a:t>transactions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8031" y="8023225"/>
            <a:ext cx="427672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85" dirty="0">
                <a:latin typeface="Arial MT"/>
                <a:cs typeface="Arial MT"/>
              </a:rPr>
              <a:t>Centralized</a:t>
            </a:r>
            <a:r>
              <a:rPr sz="3100" spc="50" dirty="0">
                <a:latin typeface="Arial MT"/>
                <a:cs typeface="Arial MT"/>
              </a:rPr>
              <a:t> </a:t>
            </a:r>
            <a:r>
              <a:rPr sz="3100" spc="-290" dirty="0">
                <a:latin typeface="Arial MT"/>
                <a:cs typeface="Arial MT"/>
              </a:rPr>
              <a:t>Fund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204" dirty="0">
                <a:latin typeface="Arial MT"/>
                <a:cs typeface="Arial MT"/>
              </a:rPr>
              <a:t>Managers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86671" y="8023225"/>
            <a:ext cx="455231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35" dirty="0">
                <a:latin typeface="Arial MT"/>
                <a:cs typeface="Arial MT"/>
              </a:rPr>
              <a:t>Smart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170" dirty="0">
                <a:latin typeface="Arial MT"/>
                <a:cs typeface="Arial MT"/>
              </a:rPr>
              <a:t>Contract</a:t>
            </a:r>
            <a:r>
              <a:rPr sz="3100" spc="55" dirty="0">
                <a:latin typeface="Arial MT"/>
                <a:cs typeface="Arial MT"/>
              </a:rPr>
              <a:t> </a:t>
            </a:r>
            <a:r>
              <a:rPr sz="3100" spc="-455" dirty="0">
                <a:latin typeface="Arial MT"/>
                <a:cs typeface="Arial MT"/>
              </a:rPr>
              <a:t>&amp;</a:t>
            </a:r>
            <a:r>
              <a:rPr sz="3100" spc="-95" dirty="0">
                <a:latin typeface="Arial MT"/>
                <a:cs typeface="Arial MT"/>
              </a:rPr>
              <a:t> </a:t>
            </a:r>
            <a:r>
              <a:rPr sz="3100" spc="-500" dirty="0">
                <a:latin typeface="Arial MT"/>
                <a:cs typeface="Arial MT"/>
              </a:rPr>
              <a:t>DAO</a:t>
            </a:r>
            <a:r>
              <a:rPr sz="3100" spc="85" dirty="0">
                <a:latin typeface="Arial MT"/>
                <a:cs typeface="Arial MT"/>
              </a:rPr>
              <a:t> </a:t>
            </a:r>
            <a:r>
              <a:rPr sz="3100" spc="-155" dirty="0">
                <a:latin typeface="Arial MT"/>
                <a:cs typeface="Arial MT"/>
              </a:rPr>
              <a:t>Voting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20" name="Ορθογώνιο 19">
            <a:extLst>
              <a:ext uri="{FF2B5EF4-FFF2-40B4-BE49-F238E27FC236}">
                <a16:creationId xmlns:a16="http://schemas.microsoft.com/office/drawing/2014/main" id="{0E988597-1806-589D-9F36-FDE194676484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8686800"/>
            <a:ext cx="5041900" cy="342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5900" y="2425700"/>
            <a:ext cx="1282700" cy="1270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0900" y="1905000"/>
            <a:ext cx="5105400" cy="165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0300" y="8750300"/>
            <a:ext cx="5029200" cy="279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2600" y="2425700"/>
            <a:ext cx="1270000" cy="1270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44300" y="8737600"/>
            <a:ext cx="5041900" cy="292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62000" y="2514600"/>
            <a:ext cx="571500" cy="1193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84300" y="2413000"/>
            <a:ext cx="685800" cy="129540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91116" y="2015067"/>
            <a:ext cx="0" cy="6697345"/>
          </a:xfrm>
          <a:custGeom>
            <a:avLst/>
            <a:gdLst/>
            <a:ahLst/>
            <a:cxnLst/>
            <a:rect l="l" t="t" r="r" b="b"/>
            <a:pathLst>
              <a:path h="6697345">
                <a:moveTo>
                  <a:pt x="0" y="6697133"/>
                </a:moveTo>
                <a:lnTo>
                  <a:pt x="0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20316" y="2065867"/>
            <a:ext cx="0" cy="6735445"/>
          </a:xfrm>
          <a:custGeom>
            <a:avLst/>
            <a:gdLst/>
            <a:ahLst/>
            <a:cxnLst/>
            <a:rect l="l" t="t" r="r" b="b"/>
            <a:pathLst>
              <a:path h="6735445">
                <a:moveTo>
                  <a:pt x="0" y="6735233"/>
                </a:moveTo>
                <a:lnTo>
                  <a:pt x="0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25116" y="2015067"/>
            <a:ext cx="0" cy="6748145"/>
          </a:xfrm>
          <a:custGeom>
            <a:avLst/>
            <a:gdLst/>
            <a:ahLst/>
            <a:cxnLst/>
            <a:rect l="l" t="t" r="r" b="b"/>
            <a:pathLst>
              <a:path h="6748145">
                <a:moveTo>
                  <a:pt x="0" y="6747933"/>
                </a:moveTo>
                <a:lnTo>
                  <a:pt x="0" y="0"/>
                </a:lnTo>
              </a:path>
            </a:pathLst>
          </a:custGeom>
          <a:ln w="4233">
            <a:solidFill>
              <a:srgbClr val="1F1F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1252200" y="2002367"/>
            <a:ext cx="29845" cy="6798945"/>
            <a:chOff x="11252200" y="2002367"/>
            <a:chExt cx="29845" cy="6798945"/>
          </a:xfrm>
        </p:grpSpPr>
        <p:sp>
          <p:nvSpPr>
            <p:cNvPr id="14" name="object 14"/>
            <p:cNvSpPr/>
            <p:nvPr/>
          </p:nvSpPr>
          <p:spPr>
            <a:xfrm>
              <a:off x="11254316" y="2002367"/>
              <a:ext cx="0" cy="6798945"/>
            </a:xfrm>
            <a:custGeom>
              <a:avLst/>
              <a:gdLst/>
              <a:ahLst/>
              <a:cxnLst/>
              <a:rect l="l" t="t" r="r" b="b"/>
              <a:pathLst>
                <a:path h="6798945">
                  <a:moveTo>
                    <a:pt x="0" y="6798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79716" y="2103967"/>
              <a:ext cx="0" cy="6595745"/>
            </a:xfrm>
            <a:custGeom>
              <a:avLst/>
              <a:gdLst/>
              <a:ahLst/>
              <a:cxnLst/>
              <a:rect l="l" t="t" r="r" b="b"/>
              <a:pathLst>
                <a:path h="6595745">
                  <a:moveTo>
                    <a:pt x="0" y="6595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382000" y="2434167"/>
            <a:ext cx="42545" cy="1147445"/>
            <a:chOff x="8382000" y="2434167"/>
            <a:chExt cx="42545" cy="1147445"/>
          </a:xfrm>
        </p:grpSpPr>
        <p:sp>
          <p:nvSpPr>
            <p:cNvPr id="17" name="object 17"/>
            <p:cNvSpPr/>
            <p:nvPr/>
          </p:nvSpPr>
          <p:spPr>
            <a:xfrm>
              <a:off x="8384116" y="2611967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396816" y="2599267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h="982345">
                  <a:moveTo>
                    <a:pt x="0" y="982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22216" y="2434167"/>
              <a:ext cx="0" cy="1147445"/>
            </a:xfrm>
            <a:custGeom>
              <a:avLst/>
              <a:gdLst/>
              <a:ahLst/>
              <a:cxnLst/>
              <a:rect l="l" t="t" r="r" b="b"/>
              <a:pathLst>
                <a:path h="1147445">
                  <a:moveTo>
                    <a:pt x="0" y="1147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547100" y="2865967"/>
            <a:ext cx="42545" cy="715645"/>
            <a:chOff x="8547100" y="2865967"/>
            <a:chExt cx="42545" cy="715645"/>
          </a:xfrm>
        </p:grpSpPr>
        <p:sp>
          <p:nvSpPr>
            <p:cNvPr id="21" name="object 21"/>
            <p:cNvSpPr/>
            <p:nvPr/>
          </p:nvSpPr>
          <p:spPr>
            <a:xfrm>
              <a:off x="8549216" y="28659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87316" y="28659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1559116" y="2027767"/>
            <a:ext cx="0" cy="6722745"/>
          </a:xfrm>
          <a:custGeom>
            <a:avLst/>
            <a:gdLst/>
            <a:ahLst/>
            <a:cxnLst/>
            <a:rect l="l" t="t" r="r" b="b"/>
            <a:pathLst>
              <a:path h="6722745">
                <a:moveTo>
                  <a:pt x="0" y="67225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1C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575616" y="1976967"/>
            <a:ext cx="0" cy="6811645"/>
          </a:xfrm>
          <a:custGeom>
            <a:avLst/>
            <a:gdLst/>
            <a:ahLst/>
            <a:cxnLst/>
            <a:rect l="l" t="t" r="r" b="b"/>
            <a:pathLst>
              <a:path h="6811645">
                <a:moveTo>
                  <a:pt x="0" y="68114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1C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3766800" y="2713567"/>
            <a:ext cx="55244" cy="702945"/>
            <a:chOff x="13766800" y="2713567"/>
            <a:chExt cx="55244" cy="702945"/>
          </a:xfrm>
        </p:grpSpPr>
        <p:sp>
          <p:nvSpPr>
            <p:cNvPr id="26" name="object 26"/>
            <p:cNvSpPr/>
            <p:nvPr/>
          </p:nvSpPr>
          <p:spPr>
            <a:xfrm>
              <a:off x="13768916" y="27770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794316" y="27770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807016" y="2751667"/>
              <a:ext cx="0" cy="652145"/>
            </a:xfrm>
            <a:custGeom>
              <a:avLst/>
              <a:gdLst/>
              <a:ahLst/>
              <a:cxnLst/>
              <a:rect l="l" t="t" r="r" b="b"/>
              <a:pathLst>
                <a:path h="652145">
                  <a:moveTo>
                    <a:pt x="0" y="651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819716" y="2713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1C1C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14073716" y="2510367"/>
            <a:ext cx="0" cy="1172845"/>
          </a:xfrm>
          <a:custGeom>
            <a:avLst/>
            <a:gdLst/>
            <a:ahLst/>
            <a:cxnLst/>
            <a:rect l="l" t="t" r="r" b="b"/>
            <a:pathLst>
              <a:path h="1172845">
                <a:moveTo>
                  <a:pt x="0" y="1172633"/>
                </a:moveTo>
                <a:lnTo>
                  <a:pt x="0" y="0"/>
                </a:lnTo>
              </a:path>
            </a:pathLst>
          </a:custGeom>
          <a:ln w="4233">
            <a:solidFill>
              <a:srgbClr val="1C1C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722750" y="507647"/>
            <a:ext cx="930211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-70" dirty="0"/>
              <a:t>Target</a:t>
            </a:r>
            <a:r>
              <a:rPr sz="4650" spc="-254" dirty="0"/>
              <a:t> </a:t>
            </a:r>
            <a:r>
              <a:rPr sz="4650" spc="-65" dirty="0"/>
              <a:t>Audience</a:t>
            </a:r>
            <a:r>
              <a:rPr sz="4650" spc="-150" dirty="0"/>
              <a:t> </a:t>
            </a:r>
            <a:r>
              <a:rPr sz="4650" spc="-405" dirty="0"/>
              <a:t>&amp;</a:t>
            </a:r>
            <a:r>
              <a:rPr sz="4650" spc="-135" dirty="0"/>
              <a:t> </a:t>
            </a:r>
            <a:r>
              <a:rPr sz="4650" spc="-160" dirty="0"/>
              <a:t>Global</a:t>
            </a:r>
            <a:r>
              <a:rPr sz="4650" spc="-165" dirty="0"/>
              <a:t> </a:t>
            </a:r>
            <a:r>
              <a:rPr sz="4650" spc="-160" dirty="0"/>
              <a:t>Use </a:t>
            </a:r>
            <a:r>
              <a:rPr sz="4650" spc="-114" dirty="0"/>
              <a:t>Cases</a:t>
            </a:r>
            <a:endParaRPr sz="4650"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841469" y="4004380"/>
            <a:ext cx="3081020" cy="607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-190" dirty="0">
                <a:latin typeface="Arial MT"/>
                <a:cs typeface="Arial MT"/>
              </a:rPr>
              <a:t>Retail</a:t>
            </a:r>
            <a:r>
              <a:rPr sz="3800" spc="-60" dirty="0">
                <a:latin typeface="Arial MT"/>
                <a:cs typeface="Arial MT"/>
              </a:rPr>
              <a:t> </a:t>
            </a:r>
            <a:r>
              <a:rPr sz="3800" spc="-105" dirty="0">
                <a:latin typeface="Arial MT"/>
                <a:cs typeface="Arial MT"/>
              </a:rPr>
              <a:t>Investors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17594" y="5137502"/>
            <a:ext cx="412877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190" dirty="0">
                <a:latin typeface="Arial MT"/>
                <a:cs typeface="Arial MT"/>
              </a:rPr>
              <a:t>Everyday</a:t>
            </a:r>
            <a:r>
              <a:rPr sz="2850" spc="70" dirty="0">
                <a:latin typeface="Arial MT"/>
                <a:cs typeface="Arial MT"/>
              </a:rPr>
              <a:t> </a:t>
            </a:r>
            <a:r>
              <a:rPr sz="2850" spc="-220" dirty="0">
                <a:latin typeface="Arial MT"/>
                <a:cs typeface="Arial MT"/>
              </a:rPr>
              <a:t>Wealth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140" dirty="0">
                <a:latin typeface="Arial MT"/>
                <a:cs typeface="Arial MT"/>
              </a:rPr>
              <a:t>Generation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95218" y="5909733"/>
            <a:ext cx="3917950" cy="245681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8890">
              <a:lnSpc>
                <a:spcPct val="86000"/>
              </a:lnSpc>
              <a:spcBef>
                <a:spcPts val="600"/>
              </a:spcBef>
            </a:pPr>
            <a:r>
              <a:rPr sz="2900" spc="-254" dirty="0">
                <a:latin typeface="Arial MT"/>
                <a:cs typeface="Arial MT"/>
              </a:rPr>
              <a:t>Enables</a:t>
            </a:r>
            <a:r>
              <a:rPr sz="2900" spc="75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retail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200" dirty="0">
                <a:latin typeface="Arial MT"/>
                <a:cs typeface="Arial MT"/>
              </a:rPr>
              <a:t>users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to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155" dirty="0">
                <a:latin typeface="Arial MT"/>
                <a:cs typeface="Arial MT"/>
              </a:rPr>
              <a:t>gain </a:t>
            </a:r>
            <a:r>
              <a:rPr sz="2900" spc="-215" dirty="0">
                <a:latin typeface="Arial MT"/>
                <a:cs typeface="Arial MT"/>
              </a:rPr>
              <a:t>exposure</a:t>
            </a:r>
            <a:r>
              <a:rPr sz="2900" spc="15" dirty="0">
                <a:latin typeface="Arial MT"/>
                <a:cs typeface="Arial MT"/>
              </a:rPr>
              <a:t> </a:t>
            </a:r>
            <a:r>
              <a:rPr sz="2900" spc="-70" dirty="0">
                <a:latin typeface="Arial MT"/>
                <a:cs typeface="Arial MT"/>
              </a:rPr>
              <a:t>to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high-</a:t>
            </a:r>
            <a:r>
              <a:rPr sz="2900" spc="-90" dirty="0">
                <a:latin typeface="Arial MT"/>
                <a:cs typeface="Arial MT"/>
              </a:rPr>
              <a:t>yield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real </a:t>
            </a:r>
            <a:r>
              <a:rPr sz="3050" spc="-235" dirty="0">
                <a:latin typeface="Arial MT"/>
                <a:cs typeface="Arial MT"/>
              </a:rPr>
              <a:t>estate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204" dirty="0">
                <a:latin typeface="Arial MT"/>
                <a:cs typeface="Arial MT"/>
              </a:rPr>
              <a:t>without</a:t>
            </a:r>
            <a:r>
              <a:rPr sz="3050" dirty="0">
                <a:latin typeface="Arial MT"/>
                <a:cs typeface="Arial MT"/>
              </a:rPr>
              <a:t> </a:t>
            </a:r>
            <a:r>
              <a:rPr sz="3050" spc="-105" dirty="0">
                <a:latin typeface="Arial MT"/>
                <a:cs typeface="Arial MT"/>
              </a:rPr>
              <a:t>requiring </a:t>
            </a:r>
            <a:r>
              <a:rPr sz="3050" spc="-295" dirty="0">
                <a:latin typeface="Arial MT"/>
                <a:cs typeface="Arial MT"/>
              </a:rPr>
              <a:t>massive</a:t>
            </a:r>
            <a:r>
              <a:rPr sz="3050" spc="25" dirty="0">
                <a:latin typeface="Arial MT"/>
                <a:cs typeface="Arial MT"/>
              </a:rPr>
              <a:t> </a:t>
            </a:r>
            <a:r>
              <a:rPr sz="3050" spc="-229" dirty="0">
                <a:latin typeface="Arial MT"/>
                <a:cs typeface="Arial MT"/>
              </a:rPr>
              <a:t>down-</a:t>
            </a:r>
            <a:r>
              <a:rPr sz="3050" spc="-105" dirty="0">
                <a:latin typeface="Arial MT"/>
                <a:cs typeface="Arial MT"/>
              </a:rPr>
              <a:t>payments, </a:t>
            </a:r>
            <a:r>
              <a:rPr sz="3050" spc="-245" dirty="0">
                <a:latin typeface="Arial MT"/>
                <a:cs typeface="Arial MT"/>
              </a:rPr>
              <a:t>mortgages,</a:t>
            </a:r>
            <a:r>
              <a:rPr sz="3050" spc="95" dirty="0">
                <a:latin typeface="Arial MT"/>
                <a:cs typeface="Arial MT"/>
              </a:rPr>
              <a:t> </a:t>
            </a:r>
            <a:r>
              <a:rPr sz="3050" spc="-260" dirty="0">
                <a:latin typeface="Arial MT"/>
                <a:cs typeface="Arial MT"/>
              </a:rPr>
              <a:t>or</a:t>
            </a:r>
            <a:r>
              <a:rPr sz="3050" spc="-150" dirty="0">
                <a:latin typeface="Arial MT"/>
                <a:cs typeface="Arial MT"/>
              </a:rPr>
              <a:t> </a:t>
            </a:r>
            <a:r>
              <a:rPr sz="3050" spc="-75" dirty="0">
                <a:latin typeface="Arial MT"/>
                <a:cs typeface="Arial MT"/>
              </a:rPr>
              <a:t>pristine </a:t>
            </a:r>
            <a:r>
              <a:rPr sz="3100" spc="-215" dirty="0">
                <a:latin typeface="Arial MT"/>
                <a:cs typeface="Arial MT"/>
              </a:rPr>
              <a:t>credit</a:t>
            </a:r>
            <a:r>
              <a:rPr sz="3100" spc="5" dirty="0">
                <a:latin typeface="Arial MT"/>
                <a:cs typeface="Arial MT"/>
              </a:rPr>
              <a:t> </a:t>
            </a:r>
            <a:r>
              <a:rPr sz="3100" spc="-305" dirty="0">
                <a:latin typeface="Arial MT"/>
                <a:cs typeface="Arial MT"/>
              </a:rPr>
              <a:t>scores.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82330" y="3969102"/>
            <a:ext cx="3878579" cy="1628139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806450" marR="812800" indent="12700" algn="ctr">
              <a:lnSpc>
                <a:spcPts val="4000"/>
              </a:lnSpc>
              <a:spcBef>
                <a:spcPts val="994"/>
              </a:spcBef>
            </a:pPr>
            <a:r>
              <a:rPr sz="4100" spc="-60" dirty="0">
                <a:latin typeface="Calibri"/>
                <a:cs typeface="Calibri"/>
              </a:rPr>
              <a:t>Real</a:t>
            </a:r>
            <a:r>
              <a:rPr sz="4100" spc="-170" dirty="0">
                <a:latin typeface="Calibri"/>
                <a:cs typeface="Calibri"/>
              </a:rPr>
              <a:t> </a:t>
            </a:r>
            <a:r>
              <a:rPr sz="4100" spc="-80" dirty="0">
                <a:latin typeface="Calibri"/>
                <a:cs typeface="Calibri"/>
              </a:rPr>
              <a:t>Estate </a:t>
            </a:r>
            <a:r>
              <a:rPr sz="4100" spc="-114" dirty="0">
                <a:latin typeface="Calibri"/>
                <a:cs typeface="Calibri"/>
              </a:rPr>
              <a:t>Developers</a:t>
            </a:r>
            <a:endParaRPr sz="4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850" spc="-155" dirty="0">
                <a:latin typeface="Arial MT"/>
                <a:cs typeface="Arial MT"/>
              </a:rPr>
              <a:t>Accelerated</a:t>
            </a:r>
            <a:r>
              <a:rPr sz="2850" spc="20" dirty="0">
                <a:latin typeface="Arial MT"/>
                <a:cs typeface="Arial MT"/>
              </a:rPr>
              <a:t> </a:t>
            </a:r>
            <a:r>
              <a:rPr sz="2850" spc="-114" dirty="0">
                <a:latin typeface="Arial MT"/>
                <a:cs typeface="Arial MT"/>
              </a:rPr>
              <a:t>Crowdfunding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3375" y="5927372"/>
            <a:ext cx="3883660" cy="24257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4604">
              <a:lnSpc>
                <a:spcPct val="91900"/>
              </a:lnSpc>
              <a:spcBef>
                <a:spcPts val="395"/>
              </a:spcBef>
            </a:pPr>
            <a:r>
              <a:rPr sz="2750" spc="-120" dirty="0">
                <a:latin typeface="Arial MT"/>
                <a:cs typeface="Arial MT"/>
              </a:rPr>
              <a:t>Allows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spc="-55" dirty="0">
                <a:latin typeface="Arial MT"/>
                <a:cs typeface="Arial MT"/>
              </a:rPr>
              <a:t>builders</a:t>
            </a:r>
            <a:r>
              <a:rPr sz="2750" spc="-7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to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spc="-90" dirty="0">
                <a:latin typeface="Arial MT"/>
                <a:cs typeface="Arial MT"/>
              </a:rPr>
              <a:t>tokenize </a:t>
            </a:r>
            <a:r>
              <a:rPr sz="2750" spc="-70" dirty="0">
                <a:latin typeface="Arial MT"/>
                <a:cs typeface="Arial MT"/>
              </a:rPr>
              <a:t>finished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spc="-45" dirty="0">
                <a:latin typeface="Arial MT"/>
                <a:cs typeface="Arial MT"/>
              </a:rPr>
              <a:t>properties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fast </a:t>
            </a:r>
            <a:r>
              <a:rPr sz="2850" spc="-125" dirty="0">
                <a:latin typeface="Arial MT"/>
                <a:cs typeface="Arial MT"/>
              </a:rPr>
              <a:t>capital</a:t>
            </a:r>
            <a:r>
              <a:rPr sz="2850" spc="-35" dirty="0">
                <a:latin typeface="Arial MT"/>
                <a:cs typeface="Arial MT"/>
              </a:rPr>
              <a:t> </a:t>
            </a:r>
            <a:r>
              <a:rPr sz="2850" spc="-65" dirty="0">
                <a:latin typeface="Arial MT"/>
                <a:cs typeface="Arial MT"/>
              </a:rPr>
              <a:t>recuperation, </a:t>
            </a:r>
            <a:r>
              <a:rPr sz="2900" spc="-180" dirty="0">
                <a:latin typeface="Arial MT"/>
                <a:cs typeface="Arial MT"/>
              </a:rPr>
              <a:t>bypassing</a:t>
            </a:r>
            <a:r>
              <a:rPr sz="2900" spc="3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expensive,</a:t>
            </a:r>
            <a:endParaRPr sz="2900">
              <a:latin typeface="Arial MT"/>
              <a:cs typeface="Arial MT"/>
            </a:endParaRPr>
          </a:p>
          <a:p>
            <a:pPr marL="15875">
              <a:lnSpc>
                <a:spcPts val="2920"/>
              </a:lnSpc>
            </a:pPr>
            <a:r>
              <a:rPr sz="2750" spc="-75" dirty="0">
                <a:latin typeface="Arial MT"/>
                <a:cs typeface="Arial MT"/>
              </a:rPr>
              <a:t>high-</a:t>
            </a:r>
            <a:r>
              <a:rPr sz="2750" spc="-25" dirty="0">
                <a:latin typeface="Arial MT"/>
                <a:cs typeface="Arial MT"/>
              </a:rPr>
              <a:t>interest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traditional</a:t>
            </a:r>
            <a:endParaRPr sz="2750">
              <a:latin typeface="Arial MT"/>
              <a:cs typeface="Arial MT"/>
            </a:endParaRPr>
          </a:p>
          <a:p>
            <a:pPr marL="15240">
              <a:lnSpc>
                <a:spcPts val="3270"/>
              </a:lnSpc>
            </a:pPr>
            <a:r>
              <a:rPr sz="2850" spc="-185" dirty="0">
                <a:latin typeface="Arial MT"/>
                <a:cs typeface="Arial MT"/>
              </a:rPr>
              <a:t>bank</a:t>
            </a:r>
            <a:r>
              <a:rPr sz="2850" spc="1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loans.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936913" y="3977922"/>
            <a:ext cx="4236085" cy="16192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582930" marR="577215" algn="ctr">
              <a:lnSpc>
                <a:spcPts val="3950"/>
              </a:lnSpc>
              <a:spcBef>
                <a:spcPts val="965"/>
              </a:spcBef>
            </a:pPr>
            <a:r>
              <a:rPr sz="4000" spc="-295" dirty="0">
                <a:latin typeface="Arial MT"/>
                <a:cs typeface="Arial MT"/>
              </a:rPr>
              <a:t>Global</a:t>
            </a:r>
            <a:r>
              <a:rPr sz="4000" spc="5" dirty="0">
                <a:latin typeface="Arial MT"/>
                <a:cs typeface="Arial MT"/>
              </a:rPr>
              <a:t> </a:t>
            </a:r>
            <a:r>
              <a:rPr sz="4000" spc="-170" dirty="0">
                <a:latin typeface="Arial MT"/>
                <a:cs typeface="Arial MT"/>
              </a:rPr>
              <a:t>Portfolio </a:t>
            </a:r>
            <a:r>
              <a:rPr sz="4000" spc="-114" dirty="0">
                <a:latin typeface="Arial MT"/>
                <a:cs typeface="Arial MT"/>
              </a:rPr>
              <a:t>Allocators</a:t>
            </a:r>
            <a:endParaRPr sz="4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2850" spc="-160" dirty="0">
                <a:latin typeface="Arial MT"/>
                <a:cs typeface="Arial MT"/>
              </a:rPr>
              <a:t>Borderless</a:t>
            </a:r>
            <a:r>
              <a:rPr sz="2850" spc="45" dirty="0">
                <a:latin typeface="Arial MT"/>
                <a:cs typeface="Arial MT"/>
              </a:rPr>
              <a:t> </a:t>
            </a:r>
            <a:r>
              <a:rPr sz="2850" spc="-215" dirty="0">
                <a:latin typeface="Arial MT"/>
                <a:cs typeface="Arial MT"/>
              </a:rPr>
              <a:t>Wealth</a:t>
            </a:r>
            <a:r>
              <a:rPr sz="2850" spc="15" dirty="0">
                <a:latin typeface="Arial MT"/>
                <a:cs typeface="Arial MT"/>
              </a:rPr>
              <a:t> </a:t>
            </a:r>
            <a:r>
              <a:rPr sz="2850" spc="-80" dirty="0">
                <a:latin typeface="Arial MT"/>
                <a:cs typeface="Arial MT"/>
              </a:rPr>
              <a:t>Protection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29674" y="5918552"/>
            <a:ext cx="4128135" cy="244983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9685" marR="5080" indent="-7620">
              <a:lnSpc>
                <a:spcPct val="86700"/>
              </a:lnSpc>
              <a:spcBef>
                <a:spcPts val="550"/>
              </a:spcBef>
            </a:pPr>
            <a:r>
              <a:rPr sz="2850" spc="-140" dirty="0">
                <a:latin typeface="Arial MT"/>
                <a:cs typeface="Arial MT"/>
              </a:rPr>
              <a:t>Investors</a:t>
            </a:r>
            <a:r>
              <a:rPr sz="2850" spc="-15" dirty="0">
                <a:latin typeface="Arial MT"/>
                <a:cs typeface="Arial MT"/>
              </a:rPr>
              <a:t> </a:t>
            </a:r>
            <a:r>
              <a:rPr sz="2850" spc="-120" dirty="0">
                <a:latin typeface="Arial MT"/>
                <a:cs typeface="Arial MT"/>
              </a:rPr>
              <a:t>in</a:t>
            </a:r>
            <a:r>
              <a:rPr sz="2850" spc="-125" dirty="0">
                <a:latin typeface="Arial MT"/>
                <a:cs typeface="Arial MT"/>
              </a:rPr>
              <a:t> </a:t>
            </a:r>
            <a:r>
              <a:rPr sz="2850" spc="-75" dirty="0">
                <a:latin typeface="Arial MT"/>
                <a:cs typeface="Arial MT"/>
              </a:rPr>
              <a:t>economically </a:t>
            </a:r>
            <a:r>
              <a:rPr sz="2900" spc="-140" dirty="0">
                <a:latin typeface="Arial MT"/>
                <a:cs typeface="Arial MT"/>
              </a:rPr>
              <a:t>volatile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regions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215" dirty="0">
                <a:latin typeface="Arial MT"/>
                <a:cs typeface="Arial MT"/>
              </a:rPr>
              <a:t>can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instantly </a:t>
            </a:r>
            <a:r>
              <a:rPr sz="2900" spc="-105" dirty="0">
                <a:latin typeface="Arial MT"/>
                <a:cs typeface="Arial MT"/>
              </a:rPr>
              <a:t>protect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their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80" dirty="0">
                <a:latin typeface="Arial MT"/>
                <a:cs typeface="Arial MT"/>
              </a:rPr>
              <a:t>wealth</a:t>
            </a:r>
            <a:r>
              <a:rPr sz="2900" spc="-11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by </a:t>
            </a:r>
            <a:r>
              <a:rPr sz="2950" spc="-195" dirty="0">
                <a:latin typeface="Arial MT"/>
                <a:cs typeface="Arial MT"/>
              </a:rPr>
              <a:t>buying</a:t>
            </a:r>
            <a:r>
              <a:rPr sz="2950" spc="-20" dirty="0">
                <a:latin typeface="Arial MT"/>
                <a:cs typeface="Arial MT"/>
              </a:rPr>
              <a:t> </a:t>
            </a:r>
            <a:r>
              <a:rPr sz="2950" spc="-135" dirty="0">
                <a:latin typeface="Arial MT"/>
                <a:cs typeface="Arial MT"/>
              </a:rPr>
              <a:t>fractions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100" dirty="0">
                <a:latin typeface="Arial MT"/>
                <a:cs typeface="Arial MT"/>
              </a:rPr>
              <a:t>of</a:t>
            </a:r>
            <a:r>
              <a:rPr sz="2950" spc="-55" dirty="0">
                <a:latin typeface="Arial MT"/>
                <a:cs typeface="Arial MT"/>
              </a:rPr>
              <a:t> </a:t>
            </a:r>
            <a:r>
              <a:rPr sz="2950" spc="-30" dirty="0">
                <a:latin typeface="Arial MT"/>
                <a:cs typeface="Arial MT"/>
              </a:rPr>
              <a:t>stable, </a:t>
            </a:r>
            <a:r>
              <a:rPr sz="3100" spc="-235" dirty="0">
                <a:latin typeface="Arial MT"/>
                <a:cs typeface="Arial MT"/>
              </a:rPr>
              <a:t>high-</a:t>
            </a:r>
            <a:r>
              <a:rPr sz="3100" spc="-215" dirty="0">
                <a:latin typeface="Arial MT"/>
                <a:cs typeface="Arial MT"/>
              </a:rPr>
              <a:t>yield</a:t>
            </a:r>
            <a:r>
              <a:rPr sz="3100" dirty="0">
                <a:latin typeface="Arial MT"/>
                <a:cs typeface="Arial MT"/>
              </a:rPr>
              <a:t> </a:t>
            </a:r>
            <a:r>
              <a:rPr sz="3100" spc="-440" dirty="0">
                <a:latin typeface="Arial MT"/>
                <a:cs typeface="Arial MT"/>
              </a:rPr>
              <a:t>US/EU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spc="-280" dirty="0">
                <a:latin typeface="Arial MT"/>
                <a:cs typeface="Arial MT"/>
              </a:rPr>
              <a:t>real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85" dirty="0">
                <a:latin typeface="Arial MT"/>
                <a:cs typeface="Arial MT"/>
              </a:rPr>
              <a:t>estate </a:t>
            </a:r>
            <a:r>
              <a:rPr sz="3200" spc="-335" dirty="0">
                <a:latin typeface="Arial MT"/>
                <a:cs typeface="Arial MT"/>
              </a:rPr>
              <a:t>via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475" dirty="0">
                <a:latin typeface="Arial MT"/>
                <a:cs typeface="Arial MT"/>
              </a:rPr>
              <a:t>self—</a:t>
            </a:r>
            <a:r>
              <a:rPr sz="3200" spc="-459" dirty="0">
                <a:latin typeface="Arial MT"/>
                <a:cs typeface="Arial MT"/>
              </a:rPr>
              <a:t>custody</a:t>
            </a:r>
            <a:r>
              <a:rPr sz="3200" spc="315" dirty="0">
                <a:latin typeface="Arial MT"/>
                <a:cs typeface="Arial MT"/>
              </a:rPr>
              <a:t> </a:t>
            </a:r>
            <a:r>
              <a:rPr sz="3200" spc="-310" dirty="0">
                <a:latin typeface="Arial MT"/>
                <a:cs typeface="Arial MT"/>
              </a:rPr>
              <a:t>wallets.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0" name="Ορθογώνιο 39">
            <a:extLst>
              <a:ext uri="{FF2B5EF4-FFF2-40B4-BE49-F238E27FC236}">
                <a16:creationId xmlns:a16="http://schemas.microsoft.com/office/drawing/2014/main" id="{A670D8C6-BDC7-0189-4387-6ADC97BC39DC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3700" y="2971800"/>
            <a:ext cx="1257300" cy="101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20"/>
              </a:spcBef>
            </a:pPr>
            <a:r>
              <a:rPr spc="-409" dirty="0"/>
              <a:t>The</a:t>
            </a:r>
            <a:r>
              <a:rPr spc="-220" dirty="0"/>
              <a:t> </a:t>
            </a:r>
            <a:r>
              <a:rPr spc="-480" dirty="0"/>
              <a:t>Solana</a:t>
            </a:r>
            <a:r>
              <a:rPr spc="15" dirty="0"/>
              <a:t> </a:t>
            </a:r>
            <a:r>
              <a:rPr spc="-300" dirty="0"/>
              <a:t>Imperative:</a:t>
            </a:r>
            <a:r>
              <a:rPr spc="35" dirty="0"/>
              <a:t> </a:t>
            </a:r>
            <a:r>
              <a:rPr spc="-505" dirty="0"/>
              <a:t>Why</a:t>
            </a:r>
            <a:r>
              <a:rPr spc="-50" dirty="0"/>
              <a:t> </a:t>
            </a:r>
            <a:r>
              <a:rPr spc="-275" dirty="0"/>
              <a:t>Architecture</a:t>
            </a:r>
            <a:r>
              <a:rPr spc="20" dirty="0"/>
              <a:t> </a:t>
            </a:r>
            <a:r>
              <a:rPr spc="-275" dirty="0"/>
              <a:t>Matters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2736" y="2674055"/>
            <a:ext cx="4225290" cy="489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450" spc="125" dirty="0">
                <a:solidFill>
                  <a:srgbClr val="697783"/>
                </a:solidFill>
                <a:latin typeface="Arial MT"/>
                <a:cs typeface="Arial MT"/>
              </a:rPr>
              <a:t>-</a:t>
            </a:r>
            <a:r>
              <a:rPr sz="9450" spc="215" dirty="0">
                <a:solidFill>
                  <a:srgbClr val="697783"/>
                </a:solidFill>
                <a:latin typeface="Arial MT"/>
                <a:cs typeface="Arial MT"/>
              </a:rPr>
              <a:t>4ddms</a:t>
            </a:r>
            <a:endParaRPr sz="9450">
              <a:latin typeface="Arial MT"/>
              <a:cs typeface="Arial MT"/>
            </a:endParaRPr>
          </a:p>
          <a:p>
            <a:pPr marR="44450" algn="ctr">
              <a:lnSpc>
                <a:spcPct val="100000"/>
              </a:lnSpc>
              <a:spcBef>
                <a:spcPts val="4809"/>
              </a:spcBef>
            </a:pPr>
            <a:r>
              <a:rPr sz="5050" spc="-335" dirty="0">
                <a:latin typeface="Arial MT"/>
                <a:cs typeface="Arial MT"/>
              </a:rPr>
              <a:t>Finality</a:t>
            </a:r>
            <a:endParaRPr sz="5050">
              <a:latin typeface="Arial MT"/>
              <a:cs typeface="Arial MT"/>
            </a:endParaRPr>
          </a:p>
          <a:p>
            <a:pPr marL="22225" marR="104775" indent="-4445">
              <a:lnSpc>
                <a:spcPct val="84000"/>
              </a:lnSpc>
              <a:spcBef>
                <a:spcPts val="3600"/>
              </a:spcBef>
            </a:pPr>
            <a:r>
              <a:rPr sz="3200" spc="-330" dirty="0">
                <a:latin typeface="Arial MT"/>
                <a:cs typeface="Arial MT"/>
              </a:rPr>
              <a:t>Enables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85" dirty="0">
                <a:latin typeface="Arial MT"/>
                <a:cs typeface="Arial MT"/>
              </a:rPr>
              <a:t>instant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190" dirty="0">
                <a:latin typeface="Arial MT"/>
                <a:cs typeface="Arial MT"/>
              </a:rPr>
              <a:t>secondary </a:t>
            </a:r>
            <a:r>
              <a:rPr sz="3100" spc="-220" dirty="0">
                <a:latin typeface="Arial MT"/>
                <a:cs typeface="Arial MT"/>
              </a:rPr>
              <a:t>market</a:t>
            </a:r>
            <a:r>
              <a:rPr sz="3100" spc="100" dirty="0">
                <a:latin typeface="Arial MT"/>
                <a:cs typeface="Arial MT"/>
              </a:rPr>
              <a:t> </a:t>
            </a:r>
            <a:r>
              <a:rPr sz="3100" spc="-155" dirty="0">
                <a:latin typeface="Arial MT"/>
                <a:cs typeface="Arial MT"/>
              </a:rPr>
              <a:t>trading,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160" dirty="0">
                <a:latin typeface="Arial MT"/>
                <a:cs typeface="Arial MT"/>
              </a:rPr>
              <a:t>eliminating </a:t>
            </a:r>
            <a:r>
              <a:rPr sz="3100" spc="-135" dirty="0">
                <a:latin typeface="Arial MT"/>
                <a:cs typeface="Arial MT"/>
              </a:rPr>
              <a:t>counterparty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settlement </a:t>
            </a:r>
            <a:r>
              <a:rPr sz="3050" spc="-135" dirty="0">
                <a:latin typeface="Arial MT"/>
                <a:cs typeface="Arial MT"/>
              </a:rPr>
              <a:t>risk</a:t>
            </a:r>
            <a:r>
              <a:rPr sz="3050" spc="-75" dirty="0">
                <a:latin typeface="Arial MT"/>
                <a:cs typeface="Arial MT"/>
              </a:rPr>
              <a:t> </a:t>
            </a:r>
            <a:r>
              <a:rPr sz="3050" spc="-35" dirty="0">
                <a:latin typeface="Arial MT"/>
                <a:cs typeface="Arial MT"/>
              </a:rPr>
              <a:t>entirely.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49579" y="2674055"/>
            <a:ext cx="4207510" cy="569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0805" algn="ctr">
              <a:lnSpc>
                <a:spcPct val="100000"/>
              </a:lnSpc>
              <a:spcBef>
                <a:spcPts val="95"/>
              </a:spcBef>
            </a:pPr>
            <a:r>
              <a:rPr sz="9450" spc="-300" dirty="0">
                <a:solidFill>
                  <a:srgbClr val="697583"/>
                </a:solidFill>
                <a:latin typeface="Arial MT"/>
                <a:cs typeface="Arial MT"/>
              </a:rPr>
              <a:t>d.dd1</a:t>
            </a:r>
            <a:endParaRPr sz="9450">
              <a:latin typeface="Arial MT"/>
              <a:cs typeface="Arial MT"/>
            </a:endParaRPr>
          </a:p>
          <a:p>
            <a:pPr marL="1111885">
              <a:lnSpc>
                <a:spcPct val="100000"/>
              </a:lnSpc>
              <a:spcBef>
                <a:spcPts val="5009"/>
              </a:spcBef>
            </a:pPr>
            <a:r>
              <a:rPr sz="4850" dirty="0">
                <a:latin typeface="Calibri"/>
                <a:cs typeface="Calibri"/>
              </a:rPr>
              <a:t>Avg</a:t>
            </a:r>
            <a:r>
              <a:rPr sz="4850" spc="-225" dirty="0">
                <a:latin typeface="Calibri"/>
                <a:cs typeface="Calibri"/>
              </a:rPr>
              <a:t> </a:t>
            </a:r>
            <a:r>
              <a:rPr sz="4850" spc="-25" dirty="0">
                <a:latin typeface="Calibri"/>
                <a:cs typeface="Calibri"/>
              </a:rPr>
              <a:t>Fee</a:t>
            </a:r>
            <a:endParaRPr sz="4850">
              <a:latin typeface="Calibri"/>
              <a:cs typeface="Calibri"/>
            </a:endParaRPr>
          </a:p>
          <a:p>
            <a:pPr marL="20955">
              <a:lnSpc>
                <a:spcPts val="3435"/>
              </a:lnSpc>
              <a:spcBef>
                <a:spcPts val="3130"/>
              </a:spcBef>
            </a:pPr>
            <a:r>
              <a:rPr sz="3100" spc="-275" dirty="0">
                <a:latin typeface="Arial MT"/>
                <a:cs typeface="Arial MT"/>
              </a:rPr>
              <a:t>The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only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305" dirty="0">
                <a:latin typeface="Arial MT"/>
                <a:cs typeface="Arial MT"/>
              </a:rPr>
              <a:t>way</a:t>
            </a:r>
            <a:endParaRPr sz="3100">
              <a:latin typeface="Arial MT"/>
              <a:cs typeface="Arial MT"/>
            </a:endParaRPr>
          </a:p>
          <a:p>
            <a:pPr marL="12700" marR="148590" indent="4445">
              <a:lnSpc>
                <a:spcPct val="83300"/>
              </a:lnSpc>
              <a:spcBef>
                <a:spcPts val="335"/>
              </a:spcBef>
            </a:pPr>
            <a:r>
              <a:rPr sz="3100" spc="-135" dirty="0">
                <a:latin typeface="Arial MT"/>
                <a:cs typeface="Arial MT"/>
              </a:rPr>
              <a:t>micro-</a:t>
            </a:r>
            <a:r>
              <a:rPr sz="3100" spc="-114" dirty="0">
                <a:latin typeface="Arial MT"/>
                <a:cs typeface="Arial MT"/>
              </a:rPr>
              <a:t>distributions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work. </a:t>
            </a:r>
            <a:r>
              <a:rPr sz="3100" spc="-150" dirty="0">
                <a:latin typeface="Arial MT"/>
                <a:cs typeface="Arial MT"/>
              </a:rPr>
              <a:t>Distributing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260" dirty="0">
                <a:latin typeface="Arial MT"/>
                <a:cs typeface="Arial MT"/>
              </a:rPr>
              <a:t>a</a:t>
            </a:r>
            <a:r>
              <a:rPr sz="3100" spc="-140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$2</a:t>
            </a:r>
            <a:r>
              <a:rPr sz="3100" spc="-254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monthly </a:t>
            </a:r>
            <a:r>
              <a:rPr sz="3100" spc="-170" dirty="0">
                <a:latin typeface="Arial MT"/>
                <a:cs typeface="Arial MT"/>
              </a:rPr>
              <a:t>rental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175" dirty="0">
                <a:latin typeface="Arial MT"/>
                <a:cs typeface="Arial MT"/>
              </a:rPr>
              <a:t>yield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is </a:t>
            </a:r>
            <a:r>
              <a:rPr sz="3200" spc="-265" dirty="0">
                <a:latin typeface="Arial MT"/>
                <a:cs typeface="Arial MT"/>
              </a:rPr>
              <a:t>economically</a:t>
            </a:r>
            <a:r>
              <a:rPr sz="3200" spc="275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impossible</a:t>
            </a:r>
            <a:r>
              <a:rPr sz="3200" spc="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if </a:t>
            </a:r>
            <a:r>
              <a:rPr sz="3050" spc="-125" dirty="0">
                <a:latin typeface="Arial MT"/>
                <a:cs typeface="Arial MT"/>
              </a:rPr>
              <a:t>network</a:t>
            </a:r>
            <a:r>
              <a:rPr sz="3050" spc="-30" dirty="0">
                <a:latin typeface="Arial MT"/>
                <a:cs typeface="Arial MT"/>
              </a:rPr>
              <a:t> </a:t>
            </a:r>
            <a:r>
              <a:rPr sz="3050" spc="-220" dirty="0">
                <a:latin typeface="Arial MT"/>
                <a:cs typeface="Arial MT"/>
              </a:rPr>
              <a:t>gas</a:t>
            </a:r>
            <a:r>
              <a:rPr sz="3050" spc="-65" dirty="0">
                <a:latin typeface="Arial MT"/>
                <a:cs typeface="Arial MT"/>
              </a:rPr>
              <a:t> </a:t>
            </a:r>
            <a:r>
              <a:rPr sz="3050" spc="-160" dirty="0">
                <a:latin typeface="Arial MT"/>
                <a:cs typeface="Arial MT"/>
              </a:rPr>
              <a:t>fees</a:t>
            </a:r>
            <a:r>
              <a:rPr sz="3050" spc="-70" dirty="0">
                <a:latin typeface="Arial MT"/>
                <a:cs typeface="Arial MT"/>
              </a:rPr>
              <a:t> </a:t>
            </a:r>
            <a:r>
              <a:rPr sz="3050" spc="-200" dirty="0">
                <a:latin typeface="Arial MT"/>
                <a:cs typeface="Arial MT"/>
              </a:rPr>
              <a:t>are</a:t>
            </a:r>
            <a:r>
              <a:rPr sz="3050" spc="-95" dirty="0">
                <a:latin typeface="Arial MT"/>
                <a:cs typeface="Arial MT"/>
              </a:rPr>
              <a:t> </a:t>
            </a:r>
            <a:r>
              <a:rPr sz="3050" spc="-25" dirty="0">
                <a:latin typeface="Arial MT"/>
                <a:cs typeface="Arial MT"/>
              </a:rPr>
              <a:t>$5.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18308" y="2674055"/>
            <a:ext cx="4246880" cy="569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670" algn="ctr">
              <a:lnSpc>
                <a:spcPct val="100000"/>
              </a:lnSpc>
              <a:spcBef>
                <a:spcPts val="95"/>
              </a:spcBef>
            </a:pPr>
            <a:r>
              <a:rPr sz="9450" spc="-185" dirty="0">
                <a:solidFill>
                  <a:srgbClr val="697585"/>
                </a:solidFill>
                <a:latin typeface="Arial MT"/>
                <a:cs typeface="Arial MT"/>
              </a:rPr>
              <a:t>65,ddd+</a:t>
            </a:r>
            <a:endParaRPr sz="9450">
              <a:latin typeface="Arial MT"/>
              <a:cs typeface="Arial MT"/>
            </a:endParaRPr>
          </a:p>
          <a:p>
            <a:pPr marL="60325" algn="ctr">
              <a:lnSpc>
                <a:spcPct val="100000"/>
              </a:lnSpc>
              <a:spcBef>
                <a:spcPts val="5009"/>
              </a:spcBef>
            </a:pPr>
            <a:r>
              <a:rPr sz="4850" spc="155" dirty="0">
                <a:latin typeface="Calibri"/>
                <a:cs typeface="Calibri"/>
              </a:rPr>
              <a:t>TPS</a:t>
            </a:r>
            <a:endParaRPr sz="4850">
              <a:latin typeface="Calibri"/>
              <a:cs typeface="Calibri"/>
            </a:endParaRPr>
          </a:p>
          <a:p>
            <a:pPr marL="28575" marR="5080" indent="-8255">
              <a:lnSpc>
                <a:spcPct val="83600"/>
              </a:lnSpc>
              <a:spcBef>
                <a:spcPts val="3740"/>
              </a:spcBef>
            </a:pPr>
            <a:r>
              <a:rPr sz="3100" spc="-120" dirty="0">
                <a:latin typeface="Arial MT"/>
                <a:cs typeface="Arial MT"/>
              </a:rPr>
              <a:t>Institutional-</a:t>
            </a:r>
            <a:r>
              <a:rPr sz="3100" spc="-10" dirty="0">
                <a:latin typeface="Arial MT"/>
                <a:cs typeface="Arial MT"/>
              </a:rPr>
              <a:t>grade </a:t>
            </a:r>
            <a:r>
              <a:rPr sz="3100" spc="-170" dirty="0">
                <a:latin typeface="Arial MT"/>
                <a:cs typeface="Arial MT"/>
              </a:rPr>
              <a:t>throughput</a:t>
            </a:r>
            <a:r>
              <a:rPr sz="3100" spc="20" dirty="0">
                <a:latin typeface="Arial MT"/>
                <a:cs typeface="Arial MT"/>
              </a:rPr>
              <a:t> </a:t>
            </a:r>
            <a:r>
              <a:rPr sz="3100" spc="-200" dirty="0">
                <a:latin typeface="Arial MT"/>
                <a:cs typeface="Arial MT"/>
              </a:rPr>
              <a:t>capable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of </a:t>
            </a:r>
            <a:r>
              <a:rPr sz="3100" spc="-200" dirty="0">
                <a:latin typeface="Arial MT"/>
                <a:cs typeface="Arial MT"/>
              </a:rPr>
              <a:t>handling</a:t>
            </a:r>
            <a:r>
              <a:rPr sz="3100" spc="-5" dirty="0">
                <a:latin typeface="Arial MT"/>
                <a:cs typeface="Arial MT"/>
              </a:rPr>
              <a:t> </a:t>
            </a:r>
            <a:r>
              <a:rPr sz="3100" spc="-185" dirty="0">
                <a:latin typeface="Arial MT"/>
                <a:cs typeface="Arial MT"/>
              </a:rPr>
              <a:t>millions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of </a:t>
            </a:r>
            <a:r>
              <a:rPr sz="3100" spc="-130" dirty="0">
                <a:latin typeface="Arial MT"/>
                <a:cs typeface="Arial MT"/>
              </a:rPr>
              <a:t>fractional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spc="-265" dirty="0">
                <a:latin typeface="Arial MT"/>
                <a:cs typeface="Arial MT"/>
              </a:rPr>
              <a:t>shares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changing </a:t>
            </a:r>
            <a:r>
              <a:rPr sz="3200" spc="-280" dirty="0">
                <a:latin typeface="Arial MT"/>
                <a:cs typeface="Arial MT"/>
              </a:rPr>
              <a:t>hands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200" dirty="0">
                <a:latin typeface="Arial MT"/>
                <a:cs typeface="Arial MT"/>
              </a:rPr>
              <a:t>concurrently</a:t>
            </a:r>
            <a:r>
              <a:rPr sz="3200" spc="55" dirty="0">
                <a:latin typeface="Arial MT"/>
                <a:cs typeface="Arial MT"/>
              </a:rPr>
              <a:t> </a:t>
            </a:r>
            <a:r>
              <a:rPr sz="3200" spc="-175" dirty="0">
                <a:latin typeface="Arial MT"/>
                <a:cs typeface="Arial MT"/>
              </a:rPr>
              <a:t>without </a:t>
            </a:r>
            <a:r>
              <a:rPr sz="3050" spc="-130" dirty="0">
                <a:latin typeface="Arial MT"/>
                <a:cs typeface="Arial MT"/>
              </a:rPr>
              <a:t>network</a:t>
            </a:r>
            <a:r>
              <a:rPr sz="3050" spc="-50" dirty="0">
                <a:latin typeface="Arial MT"/>
                <a:cs typeface="Arial MT"/>
              </a:rPr>
              <a:t> </a:t>
            </a:r>
            <a:r>
              <a:rPr sz="3050" spc="-90" dirty="0">
                <a:latin typeface="Arial MT"/>
                <a:cs typeface="Arial MT"/>
              </a:rPr>
              <a:t>degradation.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7FD5A570-C259-5675-E5B1-E954CD938B4C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1803400"/>
            <a:ext cx="8763000" cy="6972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25597" y="2011891"/>
            <a:ext cx="513334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spc="-515" dirty="0"/>
              <a:t>The</a:t>
            </a:r>
            <a:r>
              <a:rPr sz="5200" spc="-550" dirty="0"/>
              <a:t> </a:t>
            </a:r>
            <a:r>
              <a:rPr sz="5200" spc="-360" dirty="0"/>
              <a:t>Internet</a:t>
            </a:r>
            <a:r>
              <a:rPr sz="5200" spc="70" dirty="0"/>
              <a:t> </a:t>
            </a:r>
            <a:r>
              <a:rPr sz="5200" spc="-265" dirty="0"/>
              <a:t>of</a:t>
            </a:r>
            <a:r>
              <a:rPr sz="5200" spc="-200" dirty="0"/>
              <a:t> </a:t>
            </a:r>
            <a:r>
              <a:rPr sz="5200" spc="-575" dirty="0"/>
              <a:t>Value</a:t>
            </a:r>
            <a:endParaRPr sz="5200"/>
          </a:p>
        </p:txBody>
      </p:sp>
      <p:sp>
        <p:nvSpPr>
          <p:cNvPr id="4" name="object 4"/>
          <p:cNvSpPr txBox="1"/>
          <p:nvPr/>
        </p:nvSpPr>
        <p:spPr>
          <a:xfrm>
            <a:off x="11302950" y="2679700"/>
            <a:ext cx="5451475" cy="504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445" dirty="0">
                <a:latin typeface="Arial MT"/>
                <a:cs typeface="Arial MT"/>
              </a:rPr>
              <a:t>Has</a:t>
            </a:r>
            <a:r>
              <a:rPr sz="5000" spc="-140" dirty="0">
                <a:latin typeface="Arial MT"/>
                <a:cs typeface="Arial MT"/>
              </a:rPr>
              <a:t> </a:t>
            </a:r>
            <a:r>
              <a:rPr sz="5000" spc="-335" dirty="0">
                <a:latin typeface="Arial MT"/>
                <a:cs typeface="Arial MT"/>
              </a:rPr>
              <a:t>Arrived</a:t>
            </a:r>
            <a:endParaRPr sz="5000">
              <a:latin typeface="Arial MT"/>
              <a:cs typeface="Arial MT"/>
            </a:endParaRPr>
          </a:p>
          <a:p>
            <a:pPr marL="24130" marR="5080" indent="-4445">
              <a:lnSpc>
                <a:spcPts val="3200"/>
              </a:lnSpc>
              <a:spcBef>
                <a:spcPts val="3490"/>
              </a:spcBef>
            </a:pPr>
            <a:r>
              <a:rPr sz="3100" spc="-425" dirty="0">
                <a:latin typeface="Arial MT"/>
                <a:cs typeface="Arial MT"/>
              </a:rPr>
              <a:t>We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229" dirty="0">
                <a:latin typeface="Arial MT"/>
                <a:cs typeface="Arial MT"/>
              </a:rPr>
              <a:t>are</a:t>
            </a:r>
            <a:r>
              <a:rPr sz="3100" spc="-170" dirty="0">
                <a:latin typeface="Arial MT"/>
                <a:cs typeface="Arial MT"/>
              </a:rPr>
              <a:t> </a:t>
            </a:r>
            <a:r>
              <a:rPr sz="3100" spc="-190" dirty="0">
                <a:latin typeface="Arial MT"/>
                <a:cs typeface="Arial MT"/>
              </a:rPr>
              <a:t>bridging</a:t>
            </a:r>
            <a:r>
              <a:rPr sz="3100" spc="-60" dirty="0">
                <a:latin typeface="Arial MT"/>
                <a:cs typeface="Arial MT"/>
              </a:rPr>
              <a:t> </a:t>
            </a:r>
            <a:r>
              <a:rPr sz="3100" spc="-125" dirty="0">
                <a:latin typeface="Arial MT"/>
                <a:cs typeface="Arial MT"/>
              </a:rPr>
              <a:t>the</a:t>
            </a:r>
            <a:r>
              <a:rPr sz="3100" spc="-285" dirty="0">
                <a:latin typeface="Arial MT"/>
                <a:cs typeface="Arial MT"/>
              </a:rPr>
              <a:t> </a:t>
            </a:r>
            <a:r>
              <a:rPr sz="3100" spc="-220" dirty="0">
                <a:latin typeface="Arial MT"/>
                <a:cs typeface="Arial MT"/>
              </a:rPr>
              <a:t>gap</a:t>
            </a:r>
            <a:r>
              <a:rPr sz="3100" spc="-23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between </a:t>
            </a:r>
            <a:r>
              <a:rPr sz="3100" spc="-170" dirty="0">
                <a:latin typeface="Arial MT"/>
                <a:cs typeface="Arial MT"/>
              </a:rPr>
              <a:t>the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155" dirty="0">
                <a:latin typeface="Arial MT"/>
                <a:cs typeface="Arial MT"/>
              </a:rPr>
              <a:t>ultra-</a:t>
            </a:r>
            <a:r>
              <a:rPr sz="3100" spc="-170" dirty="0">
                <a:latin typeface="Arial MT"/>
                <a:cs typeface="Arial MT"/>
              </a:rPr>
              <a:t>stable,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185" dirty="0">
                <a:latin typeface="Arial MT"/>
                <a:cs typeface="Arial MT"/>
              </a:rPr>
              <a:t>income-</a:t>
            </a:r>
            <a:r>
              <a:rPr sz="3100" spc="-130" dirty="0">
                <a:latin typeface="Arial MT"/>
                <a:cs typeface="Arial MT"/>
              </a:rPr>
              <a:t>generating </a:t>
            </a:r>
            <a:r>
              <a:rPr sz="3100" spc="-190" dirty="0">
                <a:latin typeface="Arial MT"/>
                <a:cs typeface="Arial MT"/>
              </a:rPr>
              <a:t>world</a:t>
            </a:r>
            <a:r>
              <a:rPr sz="3100" spc="-204" dirty="0">
                <a:latin typeface="Arial MT"/>
                <a:cs typeface="Arial MT"/>
              </a:rPr>
              <a:t> </a:t>
            </a:r>
            <a:r>
              <a:rPr sz="3100" spc="-140" dirty="0">
                <a:latin typeface="Arial MT"/>
                <a:cs typeface="Arial MT"/>
              </a:rPr>
              <a:t>of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spc="-220" dirty="0">
                <a:latin typeface="Arial MT"/>
                <a:cs typeface="Arial MT"/>
              </a:rPr>
              <a:t>physical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spc="-165" dirty="0">
                <a:latin typeface="Arial MT"/>
                <a:cs typeface="Arial MT"/>
              </a:rPr>
              <a:t>property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45" dirty="0">
                <a:latin typeface="Arial MT"/>
                <a:cs typeface="Arial MT"/>
              </a:rPr>
              <a:t>and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100" spc="-120" dirty="0">
                <a:latin typeface="Arial MT"/>
                <a:cs typeface="Arial MT"/>
              </a:rPr>
              <a:t>ultra-</a:t>
            </a:r>
            <a:r>
              <a:rPr sz="3100" spc="-125" dirty="0">
                <a:latin typeface="Arial MT"/>
                <a:cs typeface="Arial MT"/>
              </a:rPr>
              <a:t>ehicient,</a:t>
            </a:r>
            <a:r>
              <a:rPr sz="3100" spc="-360" dirty="0">
                <a:latin typeface="Arial MT"/>
                <a:cs typeface="Arial MT"/>
              </a:rPr>
              <a:t> </a:t>
            </a:r>
            <a:r>
              <a:rPr sz="3100" spc="-210" dirty="0">
                <a:latin typeface="Arial MT"/>
                <a:cs typeface="Arial MT"/>
              </a:rPr>
              <a:t>borderless</a:t>
            </a:r>
            <a:r>
              <a:rPr sz="3100" spc="75" dirty="0">
                <a:latin typeface="Arial MT"/>
                <a:cs typeface="Arial MT"/>
              </a:rPr>
              <a:t> </a:t>
            </a:r>
            <a:r>
              <a:rPr sz="3100" spc="-190" dirty="0">
                <a:latin typeface="Arial MT"/>
                <a:cs typeface="Arial MT"/>
              </a:rPr>
              <a:t>world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of </a:t>
            </a:r>
            <a:r>
              <a:rPr sz="3100" spc="-195" dirty="0">
                <a:latin typeface="Arial MT"/>
                <a:cs typeface="Arial MT"/>
              </a:rPr>
              <a:t>decentralized</a:t>
            </a:r>
            <a:r>
              <a:rPr sz="3100" spc="25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finance.</a:t>
            </a:r>
            <a:endParaRPr sz="3100">
              <a:latin typeface="Arial MT"/>
              <a:cs typeface="Arial MT"/>
            </a:endParaRPr>
          </a:p>
          <a:p>
            <a:pPr marL="19685" marR="170815" indent="2540" algn="just">
              <a:lnSpc>
                <a:spcPct val="87200"/>
              </a:lnSpc>
              <a:spcBef>
                <a:spcPts val="3180"/>
              </a:spcBef>
            </a:pPr>
            <a:r>
              <a:rPr sz="3400" spc="55" dirty="0">
                <a:latin typeface="Arial MT"/>
                <a:cs typeface="Arial MT"/>
              </a:rPr>
              <a:t>$330</a:t>
            </a:r>
            <a:r>
              <a:rPr sz="3400" spc="-240" dirty="0">
                <a:latin typeface="Arial MT"/>
                <a:cs typeface="Arial MT"/>
              </a:rPr>
              <a:t> </a:t>
            </a:r>
            <a:r>
              <a:rPr sz="3400" spc="-60" dirty="0">
                <a:latin typeface="Arial MT"/>
                <a:cs typeface="Arial MT"/>
              </a:rPr>
              <a:t>Trillion</a:t>
            </a:r>
            <a:r>
              <a:rPr sz="3400" spc="-175" dirty="0">
                <a:latin typeface="Arial MT"/>
                <a:cs typeface="Arial MT"/>
              </a:rPr>
              <a:t> </a:t>
            </a:r>
            <a:r>
              <a:rPr sz="3400" spc="-50" dirty="0">
                <a:latin typeface="Arial MT"/>
                <a:cs typeface="Arial MT"/>
              </a:rPr>
              <a:t>in</a:t>
            </a:r>
            <a:r>
              <a:rPr sz="3400" spc="-114" dirty="0">
                <a:latin typeface="Arial MT"/>
                <a:cs typeface="Arial MT"/>
              </a:rPr>
              <a:t> </a:t>
            </a:r>
            <a:r>
              <a:rPr sz="3400" spc="-40" dirty="0">
                <a:latin typeface="Arial MT"/>
                <a:cs typeface="Arial MT"/>
              </a:rPr>
              <a:t>static,</a:t>
            </a:r>
            <a:r>
              <a:rPr sz="3400" spc="-200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illiquid </a:t>
            </a:r>
            <a:r>
              <a:rPr sz="3450" spc="-165" dirty="0">
                <a:latin typeface="Arial MT"/>
                <a:cs typeface="Arial MT"/>
              </a:rPr>
              <a:t>value</a:t>
            </a:r>
            <a:r>
              <a:rPr sz="3450" spc="-80" dirty="0">
                <a:latin typeface="Arial MT"/>
                <a:cs typeface="Arial MT"/>
              </a:rPr>
              <a:t> </a:t>
            </a:r>
            <a:r>
              <a:rPr sz="3450" spc="-35" dirty="0">
                <a:latin typeface="Arial MT"/>
                <a:cs typeface="Arial MT"/>
              </a:rPr>
              <a:t>is</a:t>
            </a:r>
            <a:r>
              <a:rPr sz="3450" spc="-204" dirty="0">
                <a:latin typeface="Arial MT"/>
                <a:cs typeface="Arial MT"/>
              </a:rPr>
              <a:t> </a:t>
            </a:r>
            <a:r>
              <a:rPr sz="3450" spc="-50" dirty="0">
                <a:latin typeface="Arial MT"/>
                <a:cs typeface="Arial MT"/>
              </a:rPr>
              <a:t>finally</a:t>
            </a:r>
            <a:r>
              <a:rPr sz="3450" spc="-190" dirty="0">
                <a:latin typeface="Arial MT"/>
                <a:cs typeface="Arial MT"/>
              </a:rPr>
              <a:t> </a:t>
            </a:r>
            <a:r>
              <a:rPr sz="3450" spc="-110" dirty="0">
                <a:latin typeface="Arial MT"/>
                <a:cs typeface="Arial MT"/>
              </a:rPr>
              <a:t>moving</a:t>
            </a:r>
            <a:r>
              <a:rPr sz="3450" spc="-50" dirty="0">
                <a:latin typeface="Arial MT"/>
                <a:cs typeface="Arial MT"/>
              </a:rPr>
              <a:t> </a:t>
            </a:r>
            <a:r>
              <a:rPr sz="3450" spc="-160" dirty="0">
                <a:latin typeface="Arial MT"/>
                <a:cs typeface="Arial MT"/>
              </a:rPr>
              <a:t>at</a:t>
            </a:r>
            <a:r>
              <a:rPr sz="3450" spc="-80" dirty="0">
                <a:latin typeface="Arial MT"/>
                <a:cs typeface="Arial MT"/>
              </a:rPr>
              <a:t> </a:t>
            </a:r>
            <a:r>
              <a:rPr sz="3450" spc="-25" dirty="0">
                <a:latin typeface="Arial MT"/>
                <a:cs typeface="Arial MT"/>
              </a:rPr>
              <a:t>the </a:t>
            </a:r>
            <a:r>
              <a:rPr sz="3550" spc="-145" dirty="0">
                <a:latin typeface="Arial MT"/>
                <a:cs typeface="Arial MT"/>
              </a:rPr>
              <a:t>speed</a:t>
            </a:r>
            <a:r>
              <a:rPr sz="3550" spc="-450" dirty="0">
                <a:latin typeface="Arial MT"/>
                <a:cs typeface="Arial MT"/>
              </a:rPr>
              <a:t> </a:t>
            </a:r>
            <a:r>
              <a:rPr sz="3550" spc="-40" dirty="0">
                <a:latin typeface="Arial MT"/>
                <a:cs typeface="Arial MT"/>
              </a:rPr>
              <a:t>of</a:t>
            </a:r>
            <a:r>
              <a:rPr sz="3550" spc="-295" dirty="0">
                <a:latin typeface="Arial MT"/>
                <a:cs typeface="Arial MT"/>
              </a:rPr>
              <a:t> </a:t>
            </a:r>
            <a:r>
              <a:rPr sz="3550" spc="-10" dirty="0">
                <a:latin typeface="Arial MT"/>
                <a:cs typeface="Arial MT"/>
              </a:rPr>
              <a:t>light.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2976749A-5D3D-1551-8289-C2BC80EE66A7}"/>
              </a:ext>
            </a:extLst>
          </p:cNvPr>
          <p:cNvSpPr/>
          <p:nvPr/>
        </p:nvSpPr>
        <p:spPr>
          <a:xfrm>
            <a:off x="15900400" y="9439980"/>
            <a:ext cx="1439519" cy="226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1061</Words>
  <Application>Microsoft Office PowerPoint</Application>
  <PresentationFormat>Προσαρμογή</PresentationFormat>
  <Paragraphs>178</Paragraphs>
  <Slides>15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19" baseType="lpstr">
      <vt:lpstr>Arial MT</vt:lpstr>
      <vt:lpstr>Calibri</vt:lpstr>
      <vt:lpstr>Consolas</vt:lpstr>
      <vt:lpstr>Office Theme</vt:lpstr>
      <vt:lpstr>Liquid Real Estate</vt:lpstr>
      <vt:lpstr>The $330 Trillion Illiquidity Problem</vt:lpstr>
      <vt:lpstr>The Asset-to-Liquidity Pipeline</vt:lpstr>
      <vt:lpstr>The Legal Wrapper: Bridging Law to Ledger</vt:lpstr>
      <vt:lpstr>Trustless Escrow: The PDA Vault Mechanism</vt:lpstr>
      <vt:lpstr>Fractionalization: Democratizing Capital</vt:lpstr>
      <vt:lpstr>Programmable Compliance via Token-2022</vt:lpstr>
      <vt:lpstr>The Liquidity Engine: Why Meteora DLMM?</vt:lpstr>
      <vt:lpstr>The Front-End: Trading Property Like Stocks</vt:lpstr>
      <vt:lpstr>The Yield Waterfall: Automated Dividend Distribution</vt:lpstr>
      <vt:lpstr>Business Strategy: Multi-Stage Value Capture</vt:lpstr>
      <vt:lpstr>The Evolution of Real Estate: Protocol vs. REITs</vt:lpstr>
      <vt:lpstr>Target Audience &amp; Global Use Cases</vt:lpstr>
      <vt:lpstr>The Solana Imperative: Why Architecture Matters</vt:lpstr>
      <vt:lpstr>The Internet of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Michoulis</cp:lastModifiedBy>
  <cp:revision>1</cp:revision>
  <dcterms:created xsi:type="dcterms:W3CDTF">2026-03-20T16:23:16Z</dcterms:created>
  <dcterms:modified xsi:type="dcterms:W3CDTF">2026-03-20T16:25:20Z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</Properties>
</file>